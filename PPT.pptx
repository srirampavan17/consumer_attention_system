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03874" y="1073480"/>
            <a:ext cx="696849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1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582401" y="5323018"/>
            <a:ext cx="7570470" cy="170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2D0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389795" y="9262353"/>
            <a:ext cx="2896870" cy="1024890"/>
          </a:xfrm>
          <a:custGeom>
            <a:avLst/>
            <a:gdLst/>
            <a:ahLst/>
            <a:cxnLst/>
            <a:rect l="l" t="t" r="r" b="b"/>
            <a:pathLst>
              <a:path w="2896869" h="1024890">
                <a:moveTo>
                  <a:pt x="2896627" y="1024646"/>
                </a:moveTo>
                <a:lnTo>
                  <a:pt x="0" y="1024646"/>
                </a:lnTo>
                <a:lnTo>
                  <a:pt x="938768" y="0"/>
                </a:lnTo>
                <a:lnTo>
                  <a:pt x="2896627" y="0"/>
                </a:lnTo>
                <a:lnTo>
                  <a:pt x="2896627" y="1024646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6255188" y="9262364"/>
            <a:ext cx="2031364" cy="1024890"/>
          </a:xfrm>
          <a:custGeom>
            <a:avLst/>
            <a:gdLst/>
            <a:ahLst/>
            <a:cxnLst/>
            <a:rect l="l" t="t" r="r" b="b"/>
            <a:pathLst>
              <a:path w="2031365" h="1024890">
                <a:moveTo>
                  <a:pt x="1360246" y="0"/>
                </a:moveTo>
                <a:lnTo>
                  <a:pt x="938758" y="0"/>
                </a:lnTo>
                <a:lnTo>
                  <a:pt x="0" y="1024648"/>
                </a:lnTo>
                <a:lnTo>
                  <a:pt x="424510" y="1024648"/>
                </a:lnTo>
                <a:lnTo>
                  <a:pt x="1360246" y="0"/>
                </a:lnTo>
                <a:close/>
              </a:path>
              <a:path w="2031365" h="1024890">
                <a:moveTo>
                  <a:pt x="2031225" y="696163"/>
                </a:moveTo>
                <a:lnTo>
                  <a:pt x="1730311" y="1024648"/>
                </a:lnTo>
                <a:lnTo>
                  <a:pt x="2031225" y="1024648"/>
                </a:lnTo>
                <a:lnTo>
                  <a:pt x="2031225" y="696163"/>
                </a:lnTo>
                <a:close/>
              </a:path>
              <a:path w="2031365" h="1024890">
                <a:moveTo>
                  <a:pt x="2031225" y="0"/>
                </a:moveTo>
                <a:lnTo>
                  <a:pt x="1803768" y="0"/>
                </a:lnTo>
                <a:lnTo>
                  <a:pt x="864997" y="1024648"/>
                </a:lnTo>
                <a:lnTo>
                  <a:pt x="1289748" y="1024648"/>
                </a:lnTo>
                <a:lnTo>
                  <a:pt x="2031225" y="212902"/>
                </a:lnTo>
                <a:lnTo>
                  <a:pt x="2031225" y="0"/>
                </a:lnTo>
                <a:close/>
              </a:path>
            </a:pathLst>
          </a:custGeom>
          <a:solidFill>
            <a:srgbClr val="6A7D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6141615" y="0"/>
            <a:ext cx="2146300" cy="1444625"/>
          </a:xfrm>
          <a:custGeom>
            <a:avLst/>
            <a:gdLst/>
            <a:ahLst/>
            <a:cxnLst/>
            <a:rect l="l" t="t" r="r" b="b"/>
            <a:pathLst>
              <a:path w="2146300" h="1444625">
                <a:moveTo>
                  <a:pt x="1323464" y="1444435"/>
                </a:moveTo>
                <a:lnTo>
                  <a:pt x="2146247" y="546506"/>
                </a:lnTo>
                <a:lnTo>
                  <a:pt x="2146247" y="0"/>
                </a:lnTo>
                <a:lnTo>
                  <a:pt x="0" y="0"/>
                </a:lnTo>
                <a:lnTo>
                  <a:pt x="1323464" y="1444435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7065372" y="0"/>
            <a:ext cx="1223010" cy="1441450"/>
          </a:xfrm>
          <a:custGeom>
            <a:avLst/>
            <a:gdLst/>
            <a:ahLst/>
            <a:cxnLst/>
            <a:rect l="l" t="t" r="r" b="b"/>
            <a:pathLst>
              <a:path w="1223009" h="1441450">
                <a:moveTo>
                  <a:pt x="402325" y="1441413"/>
                </a:moveTo>
                <a:lnTo>
                  <a:pt x="1222489" y="546506"/>
                </a:lnTo>
                <a:lnTo>
                  <a:pt x="1222489" y="0"/>
                </a:lnTo>
                <a:lnTo>
                  <a:pt x="898093" y="0"/>
                </a:lnTo>
                <a:lnTo>
                  <a:pt x="0" y="1002220"/>
                </a:lnTo>
                <a:lnTo>
                  <a:pt x="402325" y="1441413"/>
                </a:lnTo>
                <a:close/>
              </a:path>
            </a:pathLst>
          </a:custGeom>
          <a:solidFill>
            <a:srgbClr val="6A7D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5843245" y="0"/>
            <a:ext cx="2444750" cy="1932939"/>
          </a:xfrm>
          <a:custGeom>
            <a:avLst/>
            <a:gdLst/>
            <a:ahLst/>
            <a:cxnLst/>
            <a:rect l="l" t="t" r="r" b="b"/>
            <a:pathLst>
              <a:path w="2444750" h="1932939">
                <a:moveTo>
                  <a:pt x="1770515" y="1932384"/>
                </a:moveTo>
                <a:lnTo>
                  <a:pt x="2444617" y="1196835"/>
                </a:lnTo>
                <a:lnTo>
                  <a:pt x="2444617" y="865223"/>
                </a:lnTo>
                <a:lnTo>
                  <a:pt x="1770515" y="1600772"/>
                </a:lnTo>
                <a:lnTo>
                  <a:pt x="298591" y="0"/>
                </a:lnTo>
                <a:lnTo>
                  <a:pt x="0" y="0"/>
                </a:lnTo>
                <a:lnTo>
                  <a:pt x="1770515" y="1932384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4835356" y="0"/>
            <a:ext cx="1998345" cy="1080770"/>
          </a:xfrm>
          <a:custGeom>
            <a:avLst/>
            <a:gdLst/>
            <a:ahLst/>
            <a:cxnLst/>
            <a:rect l="l" t="t" r="r" b="b"/>
            <a:pathLst>
              <a:path w="1998344" h="1080770">
                <a:moveTo>
                  <a:pt x="0" y="1080388"/>
                </a:moveTo>
                <a:lnTo>
                  <a:pt x="1997928" y="1080388"/>
                </a:lnTo>
                <a:lnTo>
                  <a:pt x="1008089" y="0"/>
                </a:lnTo>
                <a:lnTo>
                  <a:pt x="0" y="0"/>
                </a:lnTo>
                <a:lnTo>
                  <a:pt x="0" y="1080388"/>
                </a:lnTo>
                <a:close/>
              </a:path>
            </a:pathLst>
          </a:custGeom>
          <a:solidFill>
            <a:srgbClr val="6A7D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4835353" y="11"/>
            <a:ext cx="1998345" cy="1080770"/>
          </a:xfrm>
          <a:custGeom>
            <a:avLst/>
            <a:gdLst/>
            <a:ahLst/>
            <a:cxnLst/>
            <a:rect l="l" t="t" r="r" b="b"/>
            <a:pathLst>
              <a:path w="1998344" h="1080770">
                <a:moveTo>
                  <a:pt x="669061" y="1080376"/>
                </a:moveTo>
                <a:lnTo>
                  <a:pt x="0" y="350278"/>
                </a:lnTo>
                <a:lnTo>
                  <a:pt x="0" y="587806"/>
                </a:lnTo>
                <a:lnTo>
                  <a:pt x="450075" y="1080376"/>
                </a:lnTo>
                <a:lnTo>
                  <a:pt x="669061" y="1080376"/>
                </a:lnTo>
                <a:close/>
              </a:path>
              <a:path w="1998344" h="1080770">
                <a:moveTo>
                  <a:pt x="1112088" y="1080376"/>
                </a:moveTo>
                <a:lnTo>
                  <a:pt x="122047" y="0"/>
                </a:lnTo>
                <a:lnTo>
                  <a:pt x="0" y="0"/>
                </a:lnTo>
                <a:lnTo>
                  <a:pt x="0" y="102870"/>
                </a:lnTo>
                <a:lnTo>
                  <a:pt x="892886" y="1080376"/>
                </a:lnTo>
                <a:lnTo>
                  <a:pt x="1112088" y="1080376"/>
                </a:lnTo>
                <a:close/>
              </a:path>
              <a:path w="1998344" h="1080770">
                <a:moveTo>
                  <a:pt x="1554899" y="1080376"/>
                </a:moveTo>
                <a:lnTo>
                  <a:pt x="565061" y="0"/>
                </a:lnTo>
                <a:lnTo>
                  <a:pt x="349072" y="0"/>
                </a:lnTo>
                <a:lnTo>
                  <a:pt x="1335913" y="1080376"/>
                </a:lnTo>
                <a:lnTo>
                  <a:pt x="1554899" y="1080376"/>
                </a:lnTo>
                <a:close/>
              </a:path>
              <a:path w="1998344" h="1080770">
                <a:moveTo>
                  <a:pt x="1997722" y="1080376"/>
                </a:moveTo>
                <a:lnTo>
                  <a:pt x="1007884" y="0"/>
                </a:lnTo>
                <a:lnTo>
                  <a:pt x="791895" y="0"/>
                </a:lnTo>
                <a:lnTo>
                  <a:pt x="1778736" y="1080376"/>
                </a:lnTo>
                <a:lnTo>
                  <a:pt x="1997722" y="1080376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9382205"/>
            <a:ext cx="4695825" cy="897890"/>
          </a:xfrm>
          <a:custGeom>
            <a:avLst/>
            <a:gdLst/>
            <a:ahLst/>
            <a:cxnLst/>
            <a:rect l="l" t="t" r="r" b="b"/>
            <a:pathLst>
              <a:path w="4695825" h="897890">
                <a:moveTo>
                  <a:pt x="4695770" y="897446"/>
                </a:moveTo>
                <a:lnTo>
                  <a:pt x="0" y="897446"/>
                </a:lnTo>
                <a:lnTo>
                  <a:pt x="0" y="0"/>
                </a:lnTo>
                <a:lnTo>
                  <a:pt x="4695770" y="0"/>
                </a:lnTo>
                <a:lnTo>
                  <a:pt x="4695770" y="897446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1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1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1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2D0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7805" y="1075861"/>
            <a:ext cx="12993209" cy="1939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1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994" y="3016135"/>
            <a:ext cx="17352010" cy="6027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84330" y="0"/>
            <a:ext cx="7903845" cy="10287000"/>
            <a:chOff x="10384330" y="0"/>
            <a:chExt cx="7903845" cy="10287000"/>
          </a:xfrm>
        </p:grpSpPr>
        <p:sp>
          <p:nvSpPr>
            <p:cNvPr id="3" name="object 3"/>
            <p:cNvSpPr/>
            <p:nvPr/>
          </p:nvSpPr>
          <p:spPr>
            <a:xfrm>
              <a:off x="10384330" y="0"/>
              <a:ext cx="7903845" cy="10287000"/>
            </a:xfrm>
            <a:custGeom>
              <a:avLst/>
              <a:gdLst/>
              <a:ahLst/>
              <a:cxnLst/>
              <a:rect l="l" t="t" r="r" b="b"/>
              <a:pathLst>
                <a:path w="7903844" h="10287000">
                  <a:moveTo>
                    <a:pt x="1401102" y="10052927"/>
                  </a:moveTo>
                  <a:lnTo>
                    <a:pt x="0" y="8650494"/>
                  </a:lnTo>
                  <a:lnTo>
                    <a:pt x="2803535" y="8650494"/>
                  </a:lnTo>
                  <a:lnTo>
                    <a:pt x="1401102" y="10052927"/>
                  </a:lnTo>
                  <a:close/>
                </a:path>
                <a:path w="7903844" h="10287000">
                  <a:moveTo>
                    <a:pt x="2335170" y="2026859"/>
                  </a:moveTo>
                  <a:lnTo>
                    <a:pt x="308311" y="0"/>
                  </a:lnTo>
                  <a:lnTo>
                    <a:pt x="1218429" y="0"/>
                  </a:lnTo>
                  <a:lnTo>
                    <a:pt x="2335170" y="1116741"/>
                  </a:lnTo>
                  <a:lnTo>
                    <a:pt x="3245288" y="1116741"/>
                  </a:lnTo>
                  <a:lnTo>
                    <a:pt x="2335170" y="2026859"/>
                  </a:lnTo>
                  <a:close/>
                </a:path>
                <a:path w="7903844" h="10287000">
                  <a:moveTo>
                    <a:pt x="2335170" y="899856"/>
                  </a:moveTo>
                  <a:lnTo>
                    <a:pt x="1435314" y="0"/>
                  </a:lnTo>
                  <a:lnTo>
                    <a:pt x="3234036" y="0"/>
                  </a:lnTo>
                  <a:lnTo>
                    <a:pt x="2335170" y="899856"/>
                  </a:lnTo>
                  <a:close/>
                </a:path>
                <a:path w="7903844" h="10287000">
                  <a:moveTo>
                    <a:pt x="3245288" y="1116741"/>
                  </a:moveTo>
                  <a:lnTo>
                    <a:pt x="2335170" y="1116741"/>
                  </a:lnTo>
                  <a:lnTo>
                    <a:pt x="3451912" y="0"/>
                  </a:lnTo>
                  <a:lnTo>
                    <a:pt x="4362029" y="0"/>
                  </a:lnTo>
                  <a:lnTo>
                    <a:pt x="3245288" y="1116741"/>
                  </a:lnTo>
                  <a:close/>
                </a:path>
                <a:path w="7903844" h="10287000">
                  <a:moveTo>
                    <a:pt x="7903661" y="10286999"/>
                  </a:moveTo>
                  <a:lnTo>
                    <a:pt x="6936211" y="10286999"/>
                  </a:lnTo>
                  <a:lnTo>
                    <a:pt x="2864742" y="6215529"/>
                  </a:lnTo>
                  <a:lnTo>
                    <a:pt x="7903668" y="1176617"/>
                  </a:lnTo>
                  <a:lnTo>
                    <a:pt x="7903668" y="3140556"/>
                  </a:lnTo>
                  <a:lnTo>
                    <a:pt x="4828680" y="6215529"/>
                  </a:lnTo>
                  <a:lnTo>
                    <a:pt x="7903668" y="9290504"/>
                  </a:lnTo>
                  <a:lnTo>
                    <a:pt x="7903661" y="10286999"/>
                  </a:lnTo>
                  <a:close/>
                </a:path>
                <a:path w="7903844" h="10287000">
                  <a:moveTo>
                    <a:pt x="7903654" y="8462882"/>
                  </a:moveTo>
                  <a:lnTo>
                    <a:pt x="5658963" y="6215529"/>
                  </a:lnTo>
                  <a:lnTo>
                    <a:pt x="7903654" y="3970839"/>
                  </a:lnTo>
                  <a:lnTo>
                    <a:pt x="7903654" y="4846361"/>
                  </a:lnTo>
                  <a:lnTo>
                    <a:pt x="6533155" y="6216860"/>
                  </a:lnTo>
                  <a:lnTo>
                    <a:pt x="7903654" y="7587359"/>
                  </a:lnTo>
                  <a:lnTo>
                    <a:pt x="7903654" y="8462882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384330" y="36309"/>
              <a:ext cx="7632700" cy="10250805"/>
            </a:xfrm>
            <a:custGeom>
              <a:avLst/>
              <a:gdLst/>
              <a:ahLst/>
              <a:cxnLst/>
              <a:rect l="l" t="t" r="r" b="b"/>
              <a:pathLst>
                <a:path w="7632700" h="10250805">
                  <a:moveTo>
                    <a:pt x="7632105" y="10250690"/>
                  </a:moveTo>
                  <a:lnTo>
                    <a:pt x="7320749" y="10250690"/>
                  </a:lnTo>
                  <a:lnTo>
                    <a:pt x="2864742" y="5794682"/>
                  </a:lnTo>
                  <a:lnTo>
                    <a:pt x="2864742" y="5483326"/>
                  </a:lnTo>
                  <a:lnTo>
                    <a:pt x="7632105" y="10250690"/>
                  </a:lnTo>
                  <a:close/>
                </a:path>
                <a:path w="7632700" h="10250805">
                  <a:moveTo>
                    <a:pt x="2371796" y="10250690"/>
                  </a:moveTo>
                  <a:lnTo>
                    <a:pt x="1405204" y="10250690"/>
                  </a:lnTo>
                  <a:lnTo>
                    <a:pt x="3041709" y="8614185"/>
                  </a:lnTo>
                  <a:lnTo>
                    <a:pt x="4007712" y="9580187"/>
                  </a:lnTo>
                  <a:lnTo>
                    <a:pt x="3041709" y="9580187"/>
                  </a:lnTo>
                  <a:lnTo>
                    <a:pt x="2371796" y="10250690"/>
                  </a:lnTo>
                  <a:close/>
                </a:path>
                <a:path w="7632700" h="10250805">
                  <a:moveTo>
                    <a:pt x="4678215" y="10250690"/>
                  </a:moveTo>
                  <a:lnTo>
                    <a:pt x="3712212" y="10250690"/>
                  </a:lnTo>
                  <a:lnTo>
                    <a:pt x="3041709" y="9580187"/>
                  </a:lnTo>
                  <a:lnTo>
                    <a:pt x="4007712" y="9580187"/>
                  </a:lnTo>
                  <a:lnTo>
                    <a:pt x="4678215" y="10250690"/>
                  </a:lnTo>
                  <a:close/>
                </a:path>
                <a:path w="7632700" h="10250805">
                  <a:moveTo>
                    <a:pt x="2866072" y="3177428"/>
                  </a:moveTo>
                  <a:lnTo>
                    <a:pt x="0" y="311356"/>
                  </a:lnTo>
                  <a:lnTo>
                    <a:pt x="0" y="0"/>
                  </a:lnTo>
                  <a:lnTo>
                    <a:pt x="2866072" y="2866072"/>
                  </a:lnTo>
                  <a:lnTo>
                    <a:pt x="2866072" y="3177428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/>
          <p:nvPr/>
        </p:nvSpPr>
        <p:spPr>
          <a:xfrm>
            <a:off x="402111" y="2013490"/>
            <a:ext cx="10744835" cy="2818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7850" spc="910" i="1">
                <a:solidFill>
                  <a:srgbClr val="232A37"/>
                </a:solidFill>
                <a:latin typeface="Georgia"/>
                <a:cs typeface="Georgia"/>
              </a:rPr>
              <a:t>Consumer</a:t>
            </a:r>
            <a:r>
              <a:rPr dirty="0" sz="7850" spc="-310" i="1">
                <a:solidFill>
                  <a:srgbClr val="232A37"/>
                </a:solidFill>
                <a:latin typeface="Georgia"/>
                <a:cs typeface="Georgia"/>
              </a:rPr>
              <a:t> </a:t>
            </a:r>
            <a:r>
              <a:rPr dirty="0" sz="7850" spc="680" i="1">
                <a:solidFill>
                  <a:srgbClr val="232A37"/>
                </a:solidFill>
                <a:latin typeface="Georgia"/>
                <a:cs typeface="Georgia"/>
              </a:rPr>
              <a:t>Attention </a:t>
            </a:r>
            <a:r>
              <a:rPr dirty="0" sz="7850" spc="725" i="1">
                <a:solidFill>
                  <a:srgbClr val="232A37"/>
                </a:solidFill>
                <a:latin typeface="Georgia"/>
                <a:cs typeface="Georgia"/>
              </a:rPr>
              <a:t>Mapping</a:t>
            </a:r>
            <a:r>
              <a:rPr dirty="0" sz="7850" spc="-320" i="1">
                <a:solidFill>
                  <a:srgbClr val="232A37"/>
                </a:solidFill>
                <a:latin typeface="Georgia"/>
                <a:cs typeface="Georgia"/>
              </a:rPr>
              <a:t> </a:t>
            </a:r>
            <a:r>
              <a:rPr dirty="0" sz="7850" spc="885" i="1">
                <a:solidFill>
                  <a:srgbClr val="232A37"/>
                </a:solidFill>
                <a:latin typeface="Georgia"/>
                <a:cs typeface="Georgia"/>
              </a:rPr>
              <a:t>System</a:t>
            </a:r>
            <a:endParaRPr sz="785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90"/>
              </a:spcBef>
            </a:pPr>
            <a:r>
              <a:rPr dirty="0" sz="4700" spc="-215">
                <a:solidFill>
                  <a:srgbClr val="3A4031"/>
                </a:solidFill>
                <a:latin typeface="Verdana"/>
                <a:cs typeface="Verdana"/>
              </a:rPr>
              <a:t>AI-</a:t>
            </a:r>
            <a:r>
              <a:rPr dirty="0" sz="4700" spc="-125">
                <a:solidFill>
                  <a:srgbClr val="3A4031"/>
                </a:solidFill>
                <a:latin typeface="Verdana"/>
                <a:cs typeface="Verdana"/>
              </a:rPr>
              <a:t>powered</a:t>
            </a:r>
            <a:r>
              <a:rPr dirty="0" sz="4700" spc="-365">
                <a:solidFill>
                  <a:srgbClr val="3A4031"/>
                </a:solidFill>
                <a:latin typeface="Verdana"/>
                <a:cs typeface="Verdana"/>
              </a:rPr>
              <a:t> </a:t>
            </a:r>
            <a:r>
              <a:rPr dirty="0" sz="4700" spc="-185">
                <a:solidFill>
                  <a:srgbClr val="3A4031"/>
                </a:solidFill>
                <a:latin typeface="Verdana"/>
                <a:cs typeface="Verdana"/>
              </a:rPr>
              <a:t>retail</a:t>
            </a:r>
            <a:r>
              <a:rPr dirty="0" sz="4700" spc="-365">
                <a:solidFill>
                  <a:srgbClr val="3A4031"/>
                </a:solidFill>
                <a:latin typeface="Verdana"/>
                <a:cs typeface="Verdana"/>
              </a:rPr>
              <a:t> </a:t>
            </a:r>
            <a:r>
              <a:rPr dirty="0" sz="4700" spc="-160">
                <a:solidFill>
                  <a:srgbClr val="3A4031"/>
                </a:solidFill>
                <a:latin typeface="Verdana"/>
                <a:cs typeface="Verdana"/>
              </a:rPr>
              <a:t>attention </a:t>
            </a:r>
            <a:r>
              <a:rPr dirty="0" sz="4700" spc="-190">
                <a:solidFill>
                  <a:srgbClr val="3A4031"/>
                </a:solidFill>
                <a:latin typeface="Verdana"/>
                <a:cs typeface="Verdana"/>
              </a:rPr>
              <a:t>intelligence</a:t>
            </a:r>
            <a:r>
              <a:rPr dirty="0" sz="4700" spc="-315">
                <a:solidFill>
                  <a:srgbClr val="3A4031"/>
                </a:solidFill>
                <a:latin typeface="Verdana"/>
                <a:cs typeface="Verdana"/>
              </a:rPr>
              <a:t> </a:t>
            </a:r>
            <a:r>
              <a:rPr dirty="0" sz="4700" spc="-40">
                <a:solidFill>
                  <a:srgbClr val="3A4031"/>
                </a:solidFill>
                <a:latin typeface="Verdana"/>
                <a:cs typeface="Verdana"/>
              </a:rPr>
              <a:t>platform</a:t>
            </a:r>
            <a:endParaRPr sz="4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819" y="3084753"/>
            <a:ext cx="5419724" cy="28376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3272" y="3084753"/>
            <a:ext cx="4905374" cy="28384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04352" y="3084753"/>
            <a:ext cx="5143499" cy="283844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20707" y="841489"/>
            <a:ext cx="6384290" cy="83311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300" spc="545"/>
              <a:t>Technology</a:t>
            </a:r>
            <a:r>
              <a:rPr dirty="0" sz="5300" spc="-195"/>
              <a:t> </a:t>
            </a:r>
            <a:r>
              <a:rPr dirty="0" sz="5300" spc="525"/>
              <a:t>Stack</a:t>
            </a:r>
            <a:endParaRPr sz="5300"/>
          </a:p>
        </p:txBody>
      </p:sp>
      <p:sp>
        <p:nvSpPr>
          <p:cNvPr id="6" name="object 6"/>
          <p:cNvSpPr txBox="1"/>
          <p:nvPr/>
        </p:nvSpPr>
        <p:spPr>
          <a:xfrm>
            <a:off x="1201762" y="6192344"/>
            <a:ext cx="3395345" cy="2311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1435" marR="43815">
              <a:lnSpc>
                <a:spcPct val="117200"/>
              </a:lnSpc>
              <a:spcBef>
                <a:spcPts val="95"/>
              </a:spcBef>
            </a:pPr>
            <a:r>
              <a:rPr dirty="0" sz="1600" spc="160" i="1">
                <a:solidFill>
                  <a:srgbClr val="666666"/>
                </a:solidFill>
                <a:latin typeface="Georgia"/>
                <a:cs typeface="Georgia"/>
              </a:rPr>
              <a:t>Python</a:t>
            </a:r>
            <a:r>
              <a:rPr dirty="0" sz="160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85" i="1">
                <a:solidFill>
                  <a:srgbClr val="666666"/>
                </a:solidFill>
                <a:latin typeface="Georgia"/>
                <a:cs typeface="Georgia"/>
              </a:rPr>
              <a:t>is</a:t>
            </a:r>
            <a:r>
              <a:rPr dirty="0" sz="160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35" i="1">
                <a:solidFill>
                  <a:srgbClr val="666666"/>
                </a:solidFill>
                <a:latin typeface="Georgia"/>
                <a:cs typeface="Georgia"/>
              </a:rPr>
              <a:t>a</a:t>
            </a:r>
            <a:r>
              <a:rPr dirty="0" sz="160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200" i="1">
                <a:solidFill>
                  <a:srgbClr val="666666"/>
                </a:solidFill>
                <a:latin typeface="Georgia"/>
                <a:cs typeface="Georgia"/>
              </a:rPr>
              <a:t>high-</a:t>
            </a:r>
            <a:r>
              <a:rPr dirty="0" sz="1600" spc="70" i="1">
                <a:solidFill>
                  <a:srgbClr val="666666"/>
                </a:solidFill>
                <a:latin typeface="Georgia"/>
                <a:cs typeface="Georgia"/>
              </a:rPr>
              <a:t>level, </a:t>
            </a:r>
            <a:r>
              <a:rPr dirty="0" sz="1600" spc="150" i="1">
                <a:solidFill>
                  <a:srgbClr val="666666"/>
                </a:solidFill>
                <a:latin typeface="Georgia"/>
                <a:cs typeface="Georgia"/>
              </a:rPr>
              <a:t>interpreted</a:t>
            </a:r>
            <a:r>
              <a:rPr dirty="0" sz="1600" spc="-3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60" i="1">
                <a:solidFill>
                  <a:srgbClr val="666666"/>
                </a:solidFill>
                <a:latin typeface="Georgia"/>
                <a:cs typeface="Georgia"/>
              </a:rPr>
              <a:t>programming </a:t>
            </a:r>
            <a:r>
              <a:rPr dirty="0" sz="1600" spc="135" i="1">
                <a:solidFill>
                  <a:srgbClr val="666666"/>
                </a:solidFill>
                <a:latin typeface="Georgia"/>
                <a:cs typeface="Georgia"/>
              </a:rPr>
              <a:t>language</a:t>
            </a:r>
            <a:r>
              <a:rPr dirty="0" sz="160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200" i="1">
                <a:solidFill>
                  <a:srgbClr val="666666"/>
                </a:solidFill>
                <a:latin typeface="Georgia"/>
                <a:cs typeface="Georgia"/>
              </a:rPr>
              <a:t>known</a:t>
            </a:r>
            <a:r>
              <a:rPr dirty="0" sz="160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70" i="1">
                <a:solidFill>
                  <a:srgbClr val="666666"/>
                </a:solidFill>
                <a:latin typeface="Georgia"/>
                <a:cs typeface="Georgia"/>
              </a:rPr>
              <a:t>for</a:t>
            </a:r>
            <a:r>
              <a:rPr dirty="0" sz="160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70" i="1">
                <a:solidFill>
                  <a:srgbClr val="666666"/>
                </a:solidFill>
                <a:latin typeface="Georgia"/>
                <a:cs typeface="Georgia"/>
              </a:rPr>
              <a:t>its</a:t>
            </a:r>
            <a:r>
              <a:rPr dirty="0" sz="160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70" i="1">
                <a:solidFill>
                  <a:srgbClr val="666666"/>
                </a:solidFill>
                <a:latin typeface="Georgia"/>
                <a:cs typeface="Georgia"/>
              </a:rPr>
              <a:t>simple </a:t>
            </a:r>
            <a:r>
              <a:rPr dirty="0" sz="1600" spc="150" i="1">
                <a:solidFill>
                  <a:srgbClr val="666666"/>
                </a:solidFill>
                <a:latin typeface="Georgia"/>
                <a:cs typeface="Georgia"/>
              </a:rPr>
              <a:t>and</a:t>
            </a:r>
            <a:r>
              <a:rPr dirty="0" sz="160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25" i="1">
                <a:solidFill>
                  <a:srgbClr val="666666"/>
                </a:solidFill>
                <a:latin typeface="Georgia"/>
                <a:cs typeface="Georgia"/>
              </a:rPr>
              <a:t>readable</a:t>
            </a:r>
            <a:r>
              <a:rPr dirty="0" sz="160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35" i="1">
                <a:solidFill>
                  <a:srgbClr val="666666"/>
                </a:solidFill>
                <a:latin typeface="Georgia"/>
                <a:cs typeface="Georgia"/>
              </a:rPr>
              <a:t>syntax.</a:t>
            </a:r>
            <a:endParaRPr sz="1600">
              <a:latin typeface="Georgia"/>
              <a:cs typeface="Georgia"/>
            </a:endParaRPr>
          </a:p>
          <a:p>
            <a:pPr algn="ctr" marL="12065" marR="5080" indent="40640">
              <a:lnSpc>
                <a:spcPct val="117200"/>
              </a:lnSpc>
            </a:pPr>
            <a:r>
              <a:rPr dirty="0" sz="1600" spc="80" i="1">
                <a:solidFill>
                  <a:srgbClr val="666666"/>
                </a:solidFill>
                <a:latin typeface="Georgia"/>
                <a:cs typeface="Georgia"/>
              </a:rPr>
              <a:t>It</a:t>
            </a:r>
            <a:r>
              <a:rPr dirty="0" sz="160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85" i="1">
                <a:solidFill>
                  <a:srgbClr val="666666"/>
                </a:solidFill>
                <a:latin typeface="Georgia"/>
                <a:cs typeface="Georgia"/>
              </a:rPr>
              <a:t>is</a:t>
            </a:r>
            <a:r>
              <a:rPr dirty="0" sz="160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05" i="1">
                <a:solidFill>
                  <a:srgbClr val="666666"/>
                </a:solidFill>
                <a:latin typeface="Georgia"/>
                <a:cs typeface="Georgia"/>
              </a:rPr>
              <a:t>widely</a:t>
            </a:r>
            <a:r>
              <a:rPr dirty="0" sz="160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75" i="1">
                <a:solidFill>
                  <a:srgbClr val="666666"/>
                </a:solidFill>
                <a:latin typeface="Georgia"/>
                <a:cs typeface="Georgia"/>
              </a:rPr>
              <a:t>used</a:t>
            </a:r>
            <a:r>
              <a:rPr dirty="0" sz="160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70" i="1">
                <a:solidFill>
                  <a:srgbClr val="666666"/>
                </a:solidFill>
                <a:latin typeface="Georgia"/>
                <a:cs typeface="Georgia"/>
              </a:rPr>
              <a:t>for</a:t>
            </a:r>
            <a:r>
              <a:rPr dirty="0" sz="160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40" i="1">
                <a:solidFill>
                  <a:srgbClr val="666666"/>
                </a:solidFill>
                <a:latin typeface="Georgia"/>
                <a:cs typeface="Georgia"/>
              </a:rPr>
              <a:t>web </a:t>
            </a:r>
            <a:r>
              <a:rPr dirty="0" sz="1600" spc="130" i="1">
                <a:solidFill>
                  <a:srgbClr val="666666"/>
                </a:solidFill>
                <a:latin typeface="Georgia"/>
                <a:cs typeface="Georgia"/>
              </a:rPr>
              <a:t>development,</a:t>
            </a:r>
            <a:r>
              <a:rPr dirty="0" sz="1600" spc="-3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50" i="1">
                <a:solidFill>
                  <a:srgbClr val="666666"/>
                </a:solidFill>
                <a:latin typeface="Georgia"/>
                <a:cs typeface="Georgia"/>
              </a:rPr>
              <a:t>automation,</a:t>
            </a:r>
            <a:r>
              <a:rPr dirty="0" sz="1600" spc="-3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80" i="1">
                <a:solidFill>
                  <a:srgbClr val="666666"/>
                </a:solidFill>
                <a:latin typeface="Georgia"/>
                <a:cs typeface="Georgia"/>
              </a:rPr>
              <a:t>data </a:t>
            </a:r>
            <a:r>
              <a:rPr dirty="0" sz="1600" spc="145" i="1">
                <a:solidFill>
                  <a:srgbClr val="666666"/>
                </a:solidFill>
                <a:latin typeface="Georgia"/>
                <a:cs typeface="Georgia"/>
              </a:rPr>
              <a:t>analysis,</a:t>
            </a:r>
            <a:r>
              <a:rPr dirty="0" sz="1600" spc="-4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30" i="1">
                <a:solidFill>
                  <a:srgbClr val="666666"/>
                </a:solidFill>
                <a:latin typeface="Georgia"/>
                <a:cs typeface="Georgia"/>
              </a:rPr>
              <a:t>artificial</a:t>
            </a:r>
            <a:r>
              <a:rPr dirty="0" sz="1600" spc="-4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20" i="1">
                <a:solidFill>
                  <a:srgbClr val="666666"/>
                </a:solidFill>
                <a:latin typeface="Georgia"/>
                <a:cs typeface="Georgia"/>
              </a:rPr>
              <a:t>intelligence, </a:t>
            </a:r>
            <a:r>
              <a:rPr dirty="0" sz="1600" spc="150" i="1">
                <a:solidFill>
                  <a:srgbClr val="666666"/>
                </a:solidFill>
                <a:latin typeface="Georgia"/>
                <a:cs typeface="Georgia"/>
              </a:rPr>
              <a:t>and</a:t>
            </a:r>
            <a:r>
              <a:rPr dirty="0" sz="160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65" i="1">
                <a:solidFill>
                  <a:srgbClr val="666666"/>
                </a:solidFill>
                <a:latin typeface="Georgia"/>
                <a:cs typeface="Georgia"/>
              </a:rPr>
              <a:t>machine</a:t>
            </a:r>
            <a:r>
              <a:rPr dirty="0" sz="160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00" spc="125" i="1">
                <a:solidFill>
                  <a:srgbClr val="666666"/>
                </a:solidFill>
                <a:latin typeface="Georgia"/>
                <a:cs typeface="Georgia"/>
              </a:rPr>
              <a:t>learning.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5158" y="6201950"/>
            <a:ext cx="3238500" cy="235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5900"/>
              </a:lnSpc>
              <a:spcBef>
                <a:spcPts val="100"/>
              </a:spcBef>
            </a:pPr>
            <a:r>
              <a:rPr dirty="0" sz="1650" spc="114" i="1">
                <a:solidFill>
                  <a:srgbClr val="666666"/>
                </a:solidFill>
                <a:latin typeface="Georgia"/>
                <a:cs typeface="Georgia"/>
              </a:rPr>
              <a:t>React.js</a:t>
            </a:r>
            <a:r>
              <a:rPr dirty="0" sz="1650" spc="-6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80" i="1">
                <a:solidFill>
                  <a:srgbClr val="666666"/>
                </a:solidFill>
                <a:latin typeface="Georgia"/>
                <a:cs typeface="Georgia"/>
              </a:rPr>
              <a:t>is</a:t>
            </a:r>
            <a:r>
              <a:rPr dirty="0" sz="165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20" i="1">
                <a:solidFill>
                  <a:srgbClr val="666666"/>
                </a:solidFill>
                <a:latin typeface="Georgia"/>
                <a:cs typeface="Georgia"/>
              </a:rPr>
              <a:t>a</a:t>
            </a:r>
            <a:r>
              <a:rPr dirty="0" sz="165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25" i="1">
                <a:solidFill>
                  <a:srgbClr val="666666"/>
                </a:solidFill>
                <a:latin typeface="Georgia"/>
                <a:cs typeface="Georgia"/>
              </a:rPr>
              <a:t>JavaScript </a:t>
            </a:r>
            <a:r>
              <a:rPr dirty="0" sz="1650" spc="145" i="1">
                <a:solidFill>
                  <a:srgbClr val="666666"/>
                </a:solidFill>
                <a:latin typeface="Georgia"/>
                <a:cs typeface="Georgia"/>
              </a:rPr>
              <a:t>library</a:t>
            </a:r>
            <a:r>
              <a:rPr dirty="0" sz="165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70" i="1">
                <a:solidFill>
                  <a:srgbClr val="666666"/>
                </a:solidFill>
                <a:latin typeface="Georgia"/>
                <a:cs typeface="Georgia"/>
              </a:rPr>
              <a:t>used</a:t>
            </a:r>
            <a:r>
              <a:rPr dirty="0" sz="165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70" i="1">
                <a:solidFill>
                  <a:srgbClr val="666666"/>
                </a:solidFill>
                <a:latin typeface="Georgia"/>
                <a:cs typeface="Georgia"/>
              </a:rPr>
              <a:t>for</a:t>
            </a:r>
            <a:r>
              <a:rPr dirty="0" sz="165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25" i="1">
                <a:solidFill>
                  <a:srgbClr val="666666"/>
                </a:solidFill>
                <a:latin typeface="Georgia"/>
                <a:cs typeface="Georgia"/>
              </a:rPr>
              <a:t>building interactive</a:t>
            </a:r>
            <a:r>
              <a:rPr dirty="0" sz="165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45" i="1">
                <a:solidFill>
                  <a:srgbClr val="666666"/>
                </a:solidFill>
                <a:latin typeface="Georgia"/>
                <a:cs typeface="Georgia"/>
              </a:rPr>
              <a:t>and</a:t>
            </a:r>
            <a:r>
              <a:rPr dirty="0" sz="165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45" i="1">
                <a:solidFill>
                  <a:srgbClr val="666666"/>
                </a:solidFill>
                <a:latin typeface="Georgia"/>
                <a:cs typeface="Georgia"/>
              </a:rPr>
              <a:t>dynamic</a:t>
            </a:r>
            <a:r>
              <a:rPr dirty="0" sz="16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65" i="1">
                <a:solidFill>
                  <a:srgbClr val="666666"/>
                </a:solidFill>
                <a:latin typeface="Georgia"/>
                <a:cs typeface="Georgia"/>
              </a:rPr>
              <a:t>user </a:t>
            </a:r>
            <a:r>
              <a:rPr dirty="0" sz="1650" spc="130" i="1">
                <a:solidFill>
                  <a:srgbClr val="666666"/>
                </a:solidFill>
                <a:latin typeface="Georgia"/>
                <a:cs typeface="Georgia"/>
              </a:rPr>
              <a:t>interfaces.</a:t>
            </a:r>
            <a:endParaRPr sz="1650">
              <a:latin typeface="Georgia"/>
              <a:cs typeface="Georgia"/>
            </a:endParaRPr>
          </a:p>
          <a:p>
            <a:pPr algn="ctr" marL="44450" marR="36830" indent="41275">
              <a:lnSpc>
                <a:spcPct val="115900"/>
              </a:lnSpc>
            </a:pPr>
            <a:r>
              <a:rPr dirty="0" sz="1650" spc="75" i="1">
                <a:solidFill>
                  <a:srgbClr val="666666"/>
                </a:solidFill>
                <a:latin typeface="Georgia"/>
                <a:cs typeface="Georgia"/>
              </a:rPr>
              <a:t>It</a:t>
            </a:r>
            <a:r>
              <a:rPr dirty="0" sz="165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85" i="1">
                <a:solidFill>
                  <a:srgbClr val="666666"/>
                </a:solidFill>
                <a:latin typeface="Georgia"/>
                <a:cs typeface="Georgia"/>
              </a:rPr>
              <a:t>helps</a:t>
            </a:r>
            <a:r>
              <a:rPr dirty="0" sz="165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35" i="1">
                <a:solidFill>
                  <a:srgbClr val="666666"/>
                </a:solidFill>
                <a:latin typeface="Georgia"/>
                <a:cs typeface="Georgia"/>
              </a:rPr>
              <a:t>developers</a:t>
            </a:r>
            <a:r>
              <a:rPr dirty="0" sz="165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30" i="1">
                <a:solidFill>
                  <a:srgbClr val="666666"/>
                </a:solidFill>
                <a:latin typeface="Georgia"/>
                <a:cs typeface="Georgia"/>
              </a:rPr>
              <a:t>create </a:t>
            </a:r>
            <a:r>
              <a:rPr dirty="0" sz="1650" spc="165" i="1">
                <a:solidFill>
                  <a:srgbClr val="666666"/>
                </a:solidFill>
                <a:latin typeface="Georgia"/>
                <a:cs typeface="Georgia"/>
              </a:rPr>
              <a:t>reusable</a:t>
            </a:r>
            <a:r>
              <a:rPr dirty="0" sz="1650" spc="-6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i="1">
                <a:solidFill>
                  <a:srgbClr val="666666"/>
                </a:solidFill>
                <a:latin typeface="Georgia"/>
                <a:cs typeface="Georgia"/>
              </a:rPr>
              <a:t>UI</a:t>
            </a:r>
            <a:r>
              <a:rPr dirty="0" sz="165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85" i="1">
                <a:solidFill>
                  <a:srgbClr val="666666"/>
                </a:solidFill>
                <a:latin typeface="Georgia"/>
                <a:cs typeface="Georgia"/>
              </a:rPr>
              <a:t>components</a:t>
            </a:r>
            <a:r>
              <a:rPr dirty="0" sz="165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20" i="1">
                <a:solidFill>
                  <a:srgbClr val="666666"/>
                </a:solidFill>
                <a:latin typeface="Georgia"/>
                <a:cs typeface="Georgia"/>
              </a:rPr>
              <a:t>and </a:t>
            </a:r>
            <a:r>
              <a:rPr dirty="0" sz="1650" spc="145" i="1">
                <a:solidFill>
                  <a:srgbClr val="666666"/>
                </a:solidFill>
                <a:latin typeface="Georgia"/>
                <a:cs typeface="Georgia"/>
              </a:rPr>
              <a:t>efficiently</a:t>
            </a:r>
            <a:r>
              <a:rPr dirty="0" sz="1650" spc="-5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40" i="1">
                <a:solidFill>
                  <a:srgbClr val="666666"/>
                </a:solidFill>
                <a:latin typeface="Georgia"/>
                <a:cs typeface="Georgia"/>
              </a:rPr>
              <a:t>build</a:t>
            </a:r>
            <a:r>
              <a:rPr dirty="0" sz="165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55" i="1">
                <a:solidFill>
                  <a:srgbClr val="666666"/>
                </a:solidFill>
                <a:latin typeface="Georgia"/>
                <a:cs typeface="Georgia"/>
              </a:rPr>
              <a:t>modern</a:t>
            </a:r>
            <a:r>
              <a:rPr dirty="0" sz="165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650" spc="130" i="1">
                <a:solidFill>
                  <a:srgbClr val="666666"/>
                </a:solidFill>
                <a:latin typeface="Georgia"/>
                <a:cs typeface="Georgia"/>
              </a:rPr>
              <a:t>web </a:t>
            </a:r>
            <a:r>
              <a:rPr dirty="0" sz="1650" spc="135" i="1">
                <a:solidFill>
                  <a:srgbClr val="666666"/>
                </a:solidFill>
                <a:latin typeface="Georgia"/>
                <a:cs typeface="Georgia"/>
              </a:rPr>
              <a:t>applications.</a:t>
            </a:r>
            <a:endParaRPr sz="16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23824" y="6117483"/>
            <a:ext cx="2914015" cy="2399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 indent="-635">
              <a:lnSpc>
                <a:spcPct val="119300"/>
              </a:lnSpc>
              <a:spcBef>
                <a:spcPts val="90"/>
              </a:spcBef>
            </a:pPr>
            <a:r>
              <a:rPr dirty="0" sz="1450" spc="110" i="1">
                <a:solidFill>
                  <a:srgbClr val="666666"/>
                </a:solidFill>
                <a:latin typeface="Georgia"/>
                <a:cs typeface="Georgia"/>
              </a:rPr>
              <a:t>FastAPI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85" i="1">
                <a:solidFill>
                  <a:srgbClr val="666666"/>
                </a:solidFill>
                <a:latin typeface="Georgia"/>
                <a:cs typeface="Georgia"/>
              </a:rPr>
              <a:t>is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40" i="1">
                <a:solidFill>
                  <a:srgbClr val="666666"/>
                </a:solidFill>
                <a:latin typeface="Georgia"/>
                <a:cs typeface="Georgia"/>
              </a:rPr>
              <a:t>a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50" i="1">
                <a:solidFill>
                  <a:srgbClr val="666666"/>
                </a:solidFill>
                <a:latin typeface="Georgia"/>
                <a:cs typeface="Georgia"/>
              </a:rPr>
              <a:t>modern,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80" i="1">
                <a:solidFill>
                  <a:srgbClr val="666666"/>
                </a:solidFill>
                <a:latin typeface="Georgia"/>
                <a:cs typeface="Georgia"/>
              </a:rPr>
              <a:t>high-</a:t>
            </a:r>
            <a:r>
              <a:rPr dirty="0" sz="1450" spc="175" i="1">
                <a:solidFill>
                  <a:srgbClr val="666666"/>
                </a:solidFill>
                <a:latin typeface="Georgia"/>
                <a:cs typeface="Georgia"/>
              </a:rPr>
              <a:t>performance</a:t>
            </a:r>
            <a:r>
              <a:rPr dirty="0" sz="1450" spc="-4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55" i="1">
                <a:solidFill>
                  <a:srgbClr val="666666"/>
                </a:solidFill>
                <a:latin typeface="Georgia"/>
                <a:cs typeface="Georgia"/>
              </a:rPr>
              <a:t>Python </a:t>
            </a:r>
            <a:r>
              <a:rPr dirty="0" sz="1450" spc="185" i="1">
                <a:solidFill>
                  <a:srgbClr val="666666"/>
                </a:solidFill>
                <a:latin typeface="Georgia"/>
                <a:cs typeface="Georgia"/>
              </a:rPr>
              <a:t>framework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75" i="1">
                <a:solidFill>
                  <a:srgbClr val="666666"/>
                </a:solidFill>
                <a:latin typeface="Georgia"/>
                <a:cs typeface="Georgia"/>
              </a:rPr>
              <a:t>used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70" i="1">
                <a:solidFill>
                  <a:srgbClr val="666666"/>
                </a:solidFill>
                <a:latin typeface="Georgia"/>
                <a:cs typeface="Georgia"/>
              </a:rPr>
              <a:t>for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40" i="1">
                <a:solidFill>
                  <a:srgbClr val="666666"/>
                </a:solidFill>
                <a:latin typeface="Georgia"/>
                <a:cs typeface="Georgia"/>
              </a:rPr>
              <a:t>building </a:t>
            </a:r>
            <a:r>
              <a:rPr dirty="0" sz="1450" spc="110" i="1">
                <a:solidFill>
                  <a:srgbClr val="666666"/>
                </a:solidFill>
                <a:latin typeface="Georgia"/>
                <a:cs typeface="Georgia"/>
              </a:rPr>
              <a:t>APIs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60" i="1">
                <a:solidFill>
                  <a:srgbClr val="666666"/>
                </a:solidFill>
                <a:latin typeface="Georgia"/>
                <a:cs typeface="Georgia"/>
              </a:rPr>
              <a:t>and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60" i="1">
                <a:solidFill>
                  <a:srgbClr val="666666"/>
                </a:solidFill>
                <a:latin typeface="Georgia"/>
                <a:cs typeface="Georgia"/>
              </a:rPr>
              <a:t>backend </a:t>
            </a:r>
            <a:r>
              <a:rPr dirty="0" sz="1450" spc="140" i="1">
                <a:solidFill>
                  <a:srgbClr val="666666"/>
                </a:solidFill>
                <a:latin typeface="Georgia"/>
                <a:cs typeface="Georgia"/>
              </a:rPr>
              <a:t>applications.</a:t>
            </a:r>
            <a:endParaRPr sz="1450">
              <a:latin typeface="Georgia"/>
              <a:cs typeface="Georgia"/>
            </a:endParaRPr>
          </a:p>
          <a:p>
            <a:pPr algn="ctr" marL="36830" marR="29209" indent="37465">
              <a:lnSpc>
                <a:spcPct val="119300"/>
              </a:lnSpc>
              <a:spcBef>
                <a:spcPts val="5"/>
              </a:spcBef>
            </a:pPr>
            <a:r>
              <a:rPr dirty="0" sz="1450" spc="80" i="1">
                <a:solidFill>
                  <a:srgbClr val="666666"/>
                </a:solidFill>
                <a:latin typeface="Georgia"/>
                <a:cs typeface="Georgia"/>
              </a:rPr>
              <a:t>It</a:t>
            </a:r>
            <a:r>
              <a:rPr dirty="0" sz="1450" spc="-50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50" i="1">
                <a:solidFill>
                  <a:srgbClr val="666666"/>
                </a:solidFill>
                <a:latin typeface="Georgia"/>
                <a:cs typeface="Georgia"/>
              </a:rPr>
              <a:t>provides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65" i="1">
                <a:solidFill>
                  <a:srgbClr val="666666"/>
                </a:solidFill>
                <a:latin typeface="Georgia"/>
                <a:cs typeface="Georgia"/>
              </a:rPr>
              <a:t>fast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40" i="1">
                <a:solidFill>
                  <a:srgbClr val="666666"/>
                </a:solidFill>
                <a:latin typeface="Georgia"/>
                <a:cs typeface="Georgia"/>
              </a:rPr>
              <a:t>API </a:t>
            </a:r>
            <a:r>
              <a:rPr dirty="0" sz="1450" spc="150" i="1">
                <a:solidFill>
                  <a:srgbClr val="666666"/>
                </a:solidFill>
                <a:latin typeface="Georgia"/>
                <a:cs typeface="Georgia"/>
              </a:rPr>
              <a:t>development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65" i="1">
                <a:solidFill>
                  <a:srgbClr val="666666"/>
                </a:solidFill>
                <a:latin typeface="Georgia"/>
                <a:cs typeface="Georgia"/>
              </a:rPr>
              <a:t>with</a:t>
            </a:r>
            <a:r>
              <a:rPr dirty="0" sz="1450" spc="-4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150" i="1">
                <a:solidFill>
                  <a:srgbClr val="666666"/>
                </a:solidFill>
                <a:latin typeface="Georgia"/>
                <a:cs typeface="Georgia"/>
              </a:rPr>
              <a:t>automatic documentation,</a:t>
            </a:r>
            <a:r>
              <a:rPr dirty="0" sz="1450" spc="-15" i="1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450" spc="85" i="1">
                <a:solidFill>
                  <a:srgbClr val="666666"/>
                </a:solidFill>
                <a:latin typeface="Georgia"/>
                <a:cs typeface="Georgia"/>
              </a:rPr>
              <a:t>data </a:t>
            </a:r>
            <a:r>
              <a:rPr dirty="0" sz="1450" spc="110" i="1">
                <a:solidFill>
                  <a:srgbClr val="666666"/>
                </a:solidFill>
                <a:latin typeface="Georgia"/>
                <a:cs typeface="Georgia"/>
              </a:rPr>
              <a:t>validation,</a:t>
            </a:r>
            <a:endParaRPr sz="14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392479"/>
            <a:ext cx="2518410" cy="894715"/>
            <a:chOff x="0" y="9392479"/>
            <a:chExt cx="2518410" cy="894715"/>
          </a:xfrm>
        </p:grpSpPr>
        <p:sp>
          <p:nvSpPr>
            <p:cNvPr id="3" name="object 3"/>
            <p:cNvSpPr/>
            <p:nvPr/>
          </p:nvSpPr>
          <p:spPr>
            <a:xfrm>
              <a:off x="0" y="9392479"/>
              <a:ext cx="2518410" cy="894715"/>
            </a:xfrm>
            <a:custGeom>
              <a:avLst/>
              <a:gdLst/>
              <a:ahLst/>
              <a:cxnLst/>
              <a:rect l="l" t="t" r="r" b="b"/>
              <a:pathLst>
                <a:path w="2518410" h="894715">
                  <a:moveTo>
                    <a:pt x="0" y="894520"/>
                  </a:moveTo>
                  <a:lnTo>
                    <a:pt x="2518222" y="894520"/>
                  </a:lnTo>
                  <a:lnTo>
                    <a:pt x="1698674" y="0"/>
                  </a:lnTo>
                  <a:lnTo>
                    <a:pt x="0" y="0"/>
                  </a:lnTo>
                  <a:lnTo>
                    <a:pt x="0" y="89452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392487"/>
              <a:ext cx="1652905" cy="894715"/>
            </a:xfrm>
            <a:custGeom>
              <a:avLst/>
              <a:gdLst/>
              <a:ahLst/>
              <a:cxnLst/>
              <a:rect l="l" t="t" r="r" b="b"/>
              <a:pathLst>
                <a:path w="1652905" h="894715">
                  <a:moveTo>
                    <a:pt x="787819" y="894524"/>
                  </a:moveTo>
                  <a:lnTo>
                    <a:pt x="0" y="34620"/>
                  </a:lnTo>
                  <a:lnTo>
                    <a:pt x="0" y="496646"/>
                  </a:lnTo>
                  <a:lnTo>
                    <a:pt x="363423" y="894524"/>
                  </a:lnTo>
                  <a:lnTo>
                    <a:pt x="787819" y="894524"/>
                  </a:lnTo>
                  <a:close/>
                </a:path>
                <a:path w="1652905" h="894715">
                  <a:moveTo>
                    <a:pt x="1652828" y="894511"/>
                  </a:moveTo>
                  <a:lnTo>
                    <a:pt x="833272" y="0"/>
                  </a:lnTo>
                  <a:lnTo>
                    <a:pt x="411797" y="0"/>
                  </a:lnTo>
                  <a:lnTo>
                    <a:pt x="1228686" y="894511"/>
                  </a:lnTo>
                  <a:lnTo>
                    <a:pt x="1652828" y="894511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3417570" cy="1695450"/>
            <a:chOff x="0" y="0"/>
            <a:chExt cx="3417570" cy="169545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894205" cy="1207770"/>
            </a:xfrm>
            <a:custGeom>
              <a:avLst/>
              <a:gdLst/>
              <a:ahLst/>
              <a:cxnLst/>
              <a:rect l="l" t="t" r="r" b="b"/>
              <a:pathLst>
                <a:path w="1894205" h="1207770">
                  <a:moveTo>
                    <a:pt x="787357" y="1207342"/>
                  </a:moveTo>
                  <a:lnTo>
                    <a:pt x="0" y="348074"/>
                  </a:lnTo>
                  <a:lnTo>
                    <a:pt x="0" y="0"/>
                  </a:lnTo>
                  <a:lnTo>
                    <a:pt x="1893584" y="0"/>
                  </a:lnTo>
                  <a:lnTo>
                    <a:pt x="787357" y="120734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1187450" cy="1204595"/>
            </a:xfrm>
            <a:custGeom>
              <a:avLst/>
              <a:gdLst/>
              <a:ahLst/>
              <a:cxnLst/>
              <a:rect l="l" t="t" r="r" b="b"/>
              <a:pathLst>
                <a:path w="1187450" h="1204595">
                  <a:moveTo>
                    <a:pt x="784738" y="1204320"/>
                  </a:moveTo>
                  <a:lnTo>
                    <a:pt x="0" y="348067"/>
                  </a:lnTo>
                  <a:lnTo>
                    <a:pt x="0" y="0"/>
                  </a:lnTo>
                  <a:lnTo>
                    <a:pt x="501430" y="0"/>
                  </a:lnTo>
                  <a:lnTo>
                    <a:pt x="1187063" y="765126"/>
                  </a:lnTo>
                  <a:lnTo>
                    <a:pt x="784738" y="1204320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2192020" cy="1695450"/>
            </a:xfrm>
            <a:custGeom>
              <a:avLst/>
              <a:gdLst/>
              <a:ahLst/>
              <a:cxnLst/>
              <a:rect l="l" t="t" r="r" b="b"/>
              <a:pathLst>
                <a:path w="2192020" h="1695450">
                  <a:moveTo>
                    <a:pt x="942509" y="1363679"/>
                  </a:moveTo>
                  <a:lnTo>
                    <a:pt x="638676" y="1363679"/>
                  </a:lnTo>
                  <a:lnTo>
                    <a:pt x="1892590" y="0"/>
                  </a:lnTo>
                  <a:lnTo>
                    <a:pt x="2191958" y="0"/>
                  </a:lnTo>
                  <a:lnTo>
                    <a:pt x="942509" y="1363679"/>
                  </a:lnTo>
                  <a:close/>
                </a:path>
                <a:path w="2192020" h="1695450">
                  <a:moveTo>
                    <a:pt x="638676" y="1695290"/>
                  </a:moveTo>
                  <a:lnTo>
                    <a:pt x="0" y="998396"/>
                  </a:lnTo>
                  <a:lnTo>
                    <a:pt x="0" y="666785"/>
                  </a:lnTo>
                  <a:lnTo>
                    <a:pt x="638676" y="1363679"/>
                  </a:lnTo>
                  <a:lnTo>
                    <a:pt x="942509" y="1363679"/>
                  </a:lnTo>
                  <a:lnTo>
                    <a:pt x="638676" y="169529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19151" y="0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1997928" y="843295"/>
                  </a:moveTo>
                  <a:lnTo>
                    <a:pt x="0" y="843295"/>
                  </a:lnTo>
                  <a:lnTo>
                    <a:pt x="772616" y="0"/>
                  </a:lnTo>
                  <a:lnTo>
                    <a:pt x="1997928" y="0"/>
                  </a:lnTo>
                  <a:lnTo>
                    <a:pt x="1997928" y="843295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19352" y="11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989253" y="0"/>
                  </a:moveTo>
                  <a:lnTo>
                    <a:pt x="772617" y="0"/>
                  </a:lnTo>
                  <a:lnTo>
                    <a:pt x="0" y="843292"/>
                  </a:lnTo>
                  <a:lnTo>
                    <a:pt x="218986" y="843292"/>
                  </a:lnTo>
                  <a:lnTo>
                    <a:pt x="989253" y="0"/>
                  </a:lnTo>
                  <a:close/>
                </a:path>
                <a:path w="1998345" h="843915">
                  <a:moveTo>
                    <a:pt x="1432077" y="0"/>
                  </a:moveTo>
                  <a:lnTo>
                    <a:pt x="1215428" y="0"/>
                  </a:lnTo>
                  <a:lnTo>
                    <a:pt x="442810" y="843292"/>
                  </a:lnTo>
                  <a:lnTo>
                    <a:pt x="661809" y="843292"/>
                  </a:lnTo>
                  <a:lnTo>
                    <a:pt x="1432077" y="0"/>
                  </a:lnTo>
                  <a:close/>
                </a:path>
                <a:path w="1998345" h="843915">
                  <a:moveTo>
                    <a:pt x="1875129" y="0"/>
                  </a:moveTo>
                  <a:lnTo>
                    <a:pt x="1658404" y="0"/>
                  </a:lnTo>
                  <a:lnTo>
                    <a:pt x="885634" y="843292"/>
                  </a:lnTo>
                  <a:lnTo>
                    <a:pt x="1104823" y="843292"/>
                  </a:lnTo>
                  <a:lnTo>
                    <a:pt x="1875129" y="0"/>
                  </a:lnTo>
                  <a:close/>
                </a:path>
                <a:path w="1998345" h="843915">
                  <a:moveTo>
                    <a:pt x="1997722" y="113182"/>
                  </a:moveTo>
                  <a:lnTo>
                    <a:pt x="1328661" y="843292"/>
                  </a:lnTo>
                  <a:lnTo>
                    <a:pt x="1547647" y="843292"/>
                  </a:lnTo>
                  <a:lnTo>
                    <a:pt x="1997722" y="350710"/>
                  </a:lnTo>
                  <a:lnTo>
                    <a:pt x="1997722" y="11318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3842607" y="9418208"/>
            <a:ext cx="4445635" cy="869315"/>
          </a:xfrm>
          <a:custGeom>
            <a:avLst/>
            <a:gdLst/>
            <a:ahLst/>
            <a:cxnLst/>
            <a:rect l="l" t="t" r="r" b="b"/>
            <a:pathLst>
              <a:path w="4445634" h="869315">
                <a:moveTo>
                  <a:pt x="0" y="0"/>
                </a:moveTo>
                <a:lnTo>
                  <a:pt x="4445390" y="0"/>
                </a:lnTo>
                <a:lnTo>
                  <a:pt x="4445390" y="868790"/>
                </a:lnTo>
                <a:lnTo>
                  <a:pt x="0" y="868790"/>
                </a:lnTo>
                <a:lnTo>
                  <a:pt x="0" y="0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516" y="4706926"/>
            <a:ext cx="6000749" cy="32289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0017" y="4755843"/>
            <a:ext cx="5848349" cy="3181349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202" rIns="0" bIns="0" rtlCol="0" vert="horz">
            <a:spAutoFit/>
          </a:bodyPr>
          <a:lstStyle/>
          <a:p>
            <a:pPr marL="375285">
              <a:lnSpc>
                <a:spcPct val="100000"/>
              </a:lnSpc>
              <a:spcBef>
                <a:spcPts val="100"/>
              </a:spcBef>
            </a:pPr>
            <a:r>
              <a:rPr dirty="0" sz="8000" spc="720"/>
              <a:t>Core</a:t>
            </a:r>
            <a:r>
              <a:rPr dirty="0" sz="8000" spc="-320"/>
              <a:t> </a:t>
            </a:r>
            <a:r>
              <a:rPr dirty="0" sz="8000" spc="745"/>
              <a:t>Features</a:t>
            </a:r>
            <a:endParaRPr sz="8000"/>
          </a:p>
        </p:txBody>
      </p:sp>
      <p:sp>
        <p:nvSpPr>
          <p:cNvPr id="15" name="object 15"/>
          <p:cNvSpPr txBox="1"/>
          <p:nvPr/>
        </p:nvSpPr>
        <p:spPr>
          <a:xfrm>
            <a:off x="1015614" y="3137772"/>
            <a:ext cx="7448550" cy="859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8335" marR="5080" indent="-3176270">
              <a:lnSpc>
                <a:spcPct val="116300"/>
              </a:lnSpc>
              <a:spcBef>
                <a:spcPts val="100"/>
              </a:spcBef>
            </a:pPr>
            <a:r>
              <a:rPr dirty="0" sz="2350">
                <a:latin typeface="Tahoma"/>
                <a:cs typeface="Tahoma"/>
              </a:rPr>
              <a:t>Shopper</a:t>
            </a:r>
            <a:r>
              <a:rPr dirty="0" sz="2350" spc="-155">
                <a:latin typeface="Tahoma"/>
                <a:cs typeface="Tahoma"/>
              </a:rPr>
              <a:t> </a:t>
            </a:r>
            <a:r>
              <a:rPr dirty="0" sz="2350">
                <a:latin typeface="Tahoma"/>
                <a:cs typeface="Tahoma"/>
              </a:rPr>
              <a:t>Detection</a:t>
            </a:r>
            <a:r>
              <a:rPr dirty="0" sz="2350" spc="-155">
                <a:latin typeface="Tahoma"/>
                <a:cs typeface="Tahoma"/>
              </a:rPr>
              <a:t> </a:t>
            </a:r>
            <a:r>
              <a:rPr dirty="0" sz="2350" spc="-105">
                <a:latin typeface="Tahoma"/>
                <a:cs typeface="Tahoma"/>
              </a:rPr>
              <a:t>&amp;</a:t>
            </a:r>
            <a:r>
              <a:rPr dirty="0" sz="2350" spc="-155">
                <a:latin typeface="Tahoma"/>
                <a:cs typeface="Tahoma"/>
              </a:rPr>
              <a:t> </a:t>
            </a:r>
            <a:r>
              <a:rPr dirty="0" sz="2350" spc="-10">
                <a:latin typeface="Tahoma"/>
                <a:cs typeface="Tahoma"/>
              </a:rPr>
              <a:t>Tracking</a:t>
            </a:r>
            <a:r>
              <a:rPr dirty="0" sz="2350" spc="-155">
                <a:latin typeface="Tahoma"/>
                <a:cs typeface="Tahoma"/>
              </a:rPr>
              <a:t> </a:t>
            </a:r>
            <a:r>
              <a:rPr dirty="0" sz="2350" spc="-175">
                <a:latin typeface="Tahoma"/>
                <a:cs typeface="Tahoma"/>
              </a:rPr>
              <a:t>–</a:t>
            </a:r>
            <a:r>
              <a:rPr dirty="0" sz="2350" spc="-155">
                <a:latin typeface="Tahoma"/>
                <a:cs typeface="Tahoma"/>
              </a:rPr>
              <a:t> </a:t>
            </a:r>
            <a:r>
              <a:rPr dirty="0" sz="2350" spc="70">
                <a:latin typeface="Tahoma"/>
                <a:cs typeface="Tahoma"/>
              </a:rPr>
              <a:t>multi-</a:t>
            </a:r>
            <a:r>
              <a:rPr dirty="0" sz="2350" spc="-25">
                <a:latin typeface="Tahoma"/>
                <a:cs typeface="Tahoma"/>
              </a:rPr>
              <a:t>person,</a:t>
            </a:r>
            <a:r>
              <a:rPr dirty="0" sz="2350" spc="-155">
                <a:latin typeface="Tahoma"/>
                <a:cs typeface="Tahoma"/>
              </a:rPr>
              <a:t> </a:t>
            </a:r>
            <a:r>
              <a:rPr dirty="0" sz="2350" spc="-10">
                <a:latin typeface="Tahoma"/>
                <a:cs typeface="Tahoma"/>
              </a:rPr>
              <a:t>path,</a:t>
            </a:r>
            <a:r>
              <a:rPr dirty="0" sz="2350" spc="-155">
                <a:latin typeface="Tahoma"/>
                <a:cs typeface="Tahoma"/>
              </a:rPr>
              <a:t> </a:t>
            </a:r>
            <a:r>
              <a:rPr dirty="0" sz="2350" spc="-20">
                <a:latin typeface="Tahoma"/>
                <a:cs typeface="Tahoma"/>
              </a:rPr>
              <a:t>zone </a:t>
            </a:r>
            <a:r>
              <a:rPr dirty="0" sz="2350" spc="-10">
                <a:latin typeface="Tahoma"/>
                <a:cs typeface="Tahoma"/>
              </a:rPr>
              <a:t>analysis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50309" y="3072445"/>
            <a:ext cx="5101590" cy="922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70940" marR="5080" indent="-1158875">
              <a:lnSpc>
                <a:spcPct val="117700"/>
              </a:lnSpc>
              <a:spcBef>
                <a:spcPts val="95"/>
              </a:spcBef>
            </a:pPr>
            <a:r>
              <a:rPr dirty="0" sz="2500" spc="55">
                <a:latin typeface="Tahoma"/>
                <a:cs typeface="Tahoma"/>
              </a:rPr>
              <a:t>Product</a:t>
            </a:r>
            <a:r>
              <a:rPr dirty="0" sz="2500" spc="-17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Interaction</a:t>
            </a:r>
            <a:r>
              <a:rPr dirty="0" sz="2500" spc="-170">
                <a:latin typeface="Tahoma"/>
                <a:cs typeface="Tahoma"/>
              </a:rPr>
              <a:t> </a:t>
            </a:r>
            <a:r>
              <a:rPr dirty="0" sz="2500" spc="-155">
                <a:latin typeface="Tahoma"/>
                <a:cs typeface="Tahoma"/>
              </a:rPr>
              <a:t>–</a:t>
            </a:r>
            <a:r>
              <a:rPr dirty="0" sz="2500" spc="-170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pickup,</a:t>
            </a:r>
            <a:r>
              <a:rPr dirty="0" sz="2500" spc="-170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return, </a:t>
            </a:r>
            <a:r>
              <a:rPr dirty="0" sz="2500" spc="45">
                <a:latin typeface="Tahoma"/>
                <a:cs typeface="Tahoma"/>
              </a:rPr>
              <a:t>purchase</a:t>
            </a:r>
            <a:r>
              <a:rPr dirty="0" sz="2500" spc="-235">
                <a:latin typeface="Tahoma"/>
                <a:cs typeface="Tahoma"/>
              </a:rPr>
              <a:t> </a:t>
            </a:r>
            <a:r>
              <a:rPr dirty="0" sz="2500" spc="50">
                <a:latin typeface="Tahoma"/>
                <a:cs typeface="Tahoma"/>
              </a:rPr>
              <a:t>detection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89795" y="9262353"/>
            <a:ext cx="2896870" cy="1024890"/>
            <a:chOff x="15389795" y="9262353"/>
            <a:chExt cx="2896870" cy="1024890"/>
          </a:xfrm>
        </p:grpSpPr>
        <p:sp>
          <p:nvSpPr>
            <p:cNvPr id="3" name="object 3"/>
            <p:cNvSpPr/>
            <p:nvPr/>
          </p:nvSpPr>
          <p:spPr>
            <a:xfrm>
              <a:off x="15389795" y="9262353"/>
              <a:ext cx="2896870" cy="1024890"/>
            </a:xfrm>
            <a:custGeom>
              <a:avLst/>
              <a:gdLst/>
              <a:ahLst/>
              <a:cxnLst/>
              <a:rect l="l" t="t" r="r" b="b"/>
              <a:pathLst>
                <a:path w="2896869" h="1024890">
                  <a:moveTo>
                    <a:pt x="2896627" y="1024646"/>
                  </a:moveTo>
                  <a:lnTo>
                    <a:pt x="0" y="1024646"/>
                  </a:lnTo>
                  <a:lnTo>
                    <a:pt x="938768" y="0"/>
                  </a:lnTo>
                  <a:lnTo>
                    <a:pt x="2896627" y="0"/>
                  </a:lnTo>
                  <a:lnTo>
                    <a:pt x="2896627" y="1024646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255188" y="9262364"/>
              <a:ext cx="2031364" cy="1024890"/>
            </a:xfrm>
            <a:custGeom>
              <a:avLst/>
              <a:gdLst/>
              <a:ahLst/>
              <a:cxnLst/>
              <a:rect l="l" t="t" r="r" b="b"/>
              <a:pathLst>
                <a:path w="2031365" h="1024890">
                  <a:moveTo>
                    <a:pt x="1360246" y="0"/>
                  </a:moveTo>
                  <a:lnTo>
                    <a:pt x="938758" y="0"/>
                  </a:lnTo>
                  <a:lnTo>
                    <a:pt x="0" y="1024648"/>
                  </a:lnTo>
                  <a:lnTo>
                    <a:pt x="424510" y="1024648"/>
                  </a:lnTo>
                  <a:lnTo>
                    <a:pt x="1360246" y="0"/>
                  </a:lnTo>
                  <a:close/>
                </a:path>
                <a:path w="2031365" h="1024890">
                  <a:moveTo>
                    <a:pt x="2031225" y="696163"/>
                  </a:moveTo>
                  <a:lnTo>
                    <a:pt x="1730311" y="1024648"/>
                  </a:lnTo>
                  <a:lnTo>
                    <a:pt x="2031225" y="1024648"/>
                  </a:lnTo>
                  <a:lnTo>
                    <a:pt x="2031225" y="696163"/>
                  </a:lnTo>
                  <a:close/>
                </a:path>
                <a:path w="2031365" h="1024890">
                  <a:moveTo>
                    <a:pt x="2031225" y="0"/>
                  </a:moveTo>
                  <a:lnTo>
                    <a:pt x="1803768" y="0"/>
                  </a:lnTo>
                  <a:lnTo>
                    <a:pt x="864997" y="1024648"/>
                  </a:lnTo>
                  <a:lnTo>
                    <a:pt x="1289748" y="1024648"/>
                  </a:lnTo>
                  <a:lnTo>
                    <a:pt x="2031225" y="212902"/>
                  </a:lnTo>
                  <a:lnTo>
                    <a:pt x="2031225" y="0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4835356" y="0"/>
            <a:ext cx="3453129" cy="1932939"/>
            <a:chOff x="14835356" y="0"/>
            <a:chExt cx="3453129" cy="1932939"/>
          </a:xfrm>
        </p:grpSpPr>
        <p:sp>
          <p:nvSpPr>
            <p:cNvPr id="6" name="object 6"/>
            <p:cNvSpPr/>
            <p:nvPr/>
          </p:nvSpPr>
          <p:spPr>
            <a:xfrm>
              <a:off x="16141615" y="0"/>
              <a:ext cx="2146300" cy="1444625"/>
            </a:xfrm>
            <a:custGeom>
              <a:avLst/>
              <a:gdLst/>
              <a:ahLst/>
              <a:cxnLst/>
              <a:rect l="l" t="t" r="r" b="b"/>
              <a:pathLst>
                <a:path w="2146300" h="1444625">
                  <a:moveTo>
                    <a:pt x="1323464" y="1444435"/>
                  </a:moveTo>
                  <a:lnTo>
                    <a:pt x="2146247" y="546506"/>
                  </a:lnTo>
                  <a:lnTo>
                    <a:pt x="2146247" y="0"/>
                  </a:lnTo>
                  <a:lnTo>
                    <a:pt x="0" y="0"/>
                  </a:lnTo>
                  <a:lnTo>
                    <a:pt x="1323464" y="1444435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065372" y="0"/>
              <a:ext cx="1223010" cy="1441450"/>
            </a:xfrm>
            <a:custGeom>
              <a:avLst/>
              <a:gdLst/>
              <a:ahLst/>
              <a:cxnLst/>
              <a:rect l="l" t="t" r="r" b="b"/>
              <a:pathLst>
                <a:path w="1223009" h="1441450">
                  <a:moveTo>
                    <a:pt x="402325" y="1441413"/>
                  </a:moveTo>
                  <a:lnTo>
                    <a:pt x="1222489" y="546506"/>
                  </a:lnTo>
                  <a:lnTo>
                    <a:pt x="1222489" y="0"/>
                  </a:lnTo>
                  <a:lnTo>
                    <a:pt x="898093" y="0"/>
                  </a:lnTo>
                  <a:lnTo>
                    <a:pt x="0" y="1002220"/>
                  </a:lnTo>
                  <a:lnTo>
                    <a:pt x="402325" y="1441413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843245" y="0"/>
              <a:ext cx="2444750" cy="1932939"/>
            </a:xfrm>
            <a:custGeom>
              <a:avLst/>
              <a:gdLst/>
              <a:ahLst/>
              <a:cxnLst/>
              <a:rect l="l" t="t" r="r" b="b"/>
              <a:pathLst>
                <a:path w="2444750" h="1932939">
                  <a:moveTo>
                    <a:pt x="1770515" y="1932384"/>
                  </a:moveTo>
                  <a:lnTo>
                    <a:pt x="2444617" y="1196835"/>
                  </a:lnTo>
                  <a:lnTo>
                    <a:pt x="2444617" y="865223"/>
                  </a:lnTo>
                  <a:lnTo>
                    <a:pt x="1770515" y="1600772"/>
                  </a:lnTo>
                  <a:lnTo>
                    <a:pt x="298591" y="0"/>
                  </a:lnTo>
                  <a:lnTo>
                    <a:pt x="0" y="0"/>
                  </a:lnTo>
                  <a:lnTo>
                    <a:pt x="1770515" y="1932384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835356" y="0"/>
              <a:ext cx="1998345" cy="1080770"/>
            </a:xfrm>
            <a:custGeom>
              <a:avLst/>
              <a:gdLst/>
              <a:ahLst/>
              <a:cxnLst/>
              <a:rect l="l" t="t" r="r" b="b"/>
              <a:pathLst>
                <a:path w="1998344" h="1080770">
                  <a:moveTo>
                    <a:pt x="0" y="1080388"/>
                  </a:moveTo>
                  <a:lnTo>
                    <a:pt x="1997928" y="1080388"/>
                  </a:lnTo>
                  <a:lnTo>
                    <a:pt x="1008089" y="0"/>
                  </a:lnTo>
                  <a:lnTo>
                    <a:pt x="0" y="0"/>
                  </a:lnTo>
                  <a:lnTo>
                    <a:pt x="0" y="1080388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835353" y="11"/>
              <a:ext cx="1998345" cy="1080770"/>
            </a:xfrm>
            <a:custGeom>
              <a:avLst/>
              <a:gdLst/>
              <a:ahLst/>
              <a:cxnLst/>
              <a:rect l="l" t="t" r="r" b="b"/>
              <a:pathLst>
                <a:path w="1998344" h="1080770">
                  <a:moveTo>
                    <a:pt x="669061" y="1080376"/>
                  </a:moveTo>
                  <a:lnTo>
                    <a:pt x="0" y="350278"/>
                  </a:lnTo>
                  <a:lnTo>
                    <a:pt x="0" y="587806"/>
                  </a:lnTo>
                  <a:lnTo>
                    <a:pt x="450075" y="1080376"/>
                  </a:lnTo>
                  <a:lnTo>
                    <a:pt x="669061" y="1080376"/>
                  </a:lnTo>
                  <a:close/>
                </a:path>
                <a:path w="1998344" h="1080770">
                  <a:moveTo>
                    <a:pt x="1112088" y="1080376"/>
                  </a:moveTo>
                  <a:lnTo>
                    <a:pt x="122047" y="0"/>
                  </a:lnTo>
                  <a:lnTo>
                    <a:pt x="0" y="0"/>
                  </a:lnTo>
                  <a:lnTo>
                    <a:pt x="0" y="102870"/>
                  </a:lnTo>
                  <a:lnTo>
                    <a:pt x="892886" y="1080376"/>
                  </a:lnTo>
                  <a:lnTo>
                    <a:pt x="1112088" y="1080376"/>
                  </a:lnTo>
                  <a:close/>
                </a:path>
                <a:path w="1998344" h="1080770">
                  <a:moveTo>
                    <a:pt x="1554899" y="1080376"/>
                  </a:moveTo>
                  <a:lnTo>
                    <a:pt x="565061" y="0"/>
                  </a:lnTo>
                  <a:lnTo>
                    <a:pt x="349072" y="0"/>
                  </a:lnTo>
                  <a:lnTo>
                    <a:pt x="1335913" y="1080376"/>
                  </a:lnTo>
                  <a:lnTo>
                    <a:pt x="1554899" y="1080376"/>
                  </a:lnTo>
                  <a:close/>
                </a:path>
                <a:path w="1998344" h="1080770">
                  <a:moveTo>
                    <a:pt x="1997722" y="1080376"/>
                  </a:moveTo>
                  <a:lnTo>
                    <a:pt x="1007884" y="0"/>
                  </a:lnTo>
                  <a:lnTo>
                    <a:pt x="791895" y="0"/>
                  </a:lnTo>
                  <a:lnTo>
                    <a:pt x="1778736" y="1080376"/>
                  </a:lnTo>
                  <a:lnTo>
                    <a:pt x="1997722" y="1080376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0" y="9382205"/>
            <a:ext cx="4695825" cy="897890"/>
          </a:xfrm>
          <a:custGeom>
            <a:avLst/>
            <a:gdLst/>
            <a:ahLst/>
            <a:cxnLst/>
            <a:rect l="l" t="t" r="r" b="b"/>
            <a:pathLst>
              <a:path w="4695825" h="897890">
                <a:moveTo>
                  <a:pt x="4695770" y="897446"/>
                </a:moveTo>
                <a:lnTo>
                  <a:pt x="0" y="897446"/>
                </a:lnTo>
                <a:lnTo>
                  <a:pt x="0" y="0"/>
                </a:lnTo>
                <a:lnTo>
                  <a:pt x="4695770" y="0"/>
                </a:lnTo>
                <a:lnTo>
                  <a:pt x="4695770" y="897446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57805" y="1075861"/>
            <a:ext cx="6397625" cy="172656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75130" marR="5080" indent="-1663064">
              <a:lnSpc>
                <a:spcPct val="116300"/>
              </a:lnSpc>
              <a:spcBef>
                <a:spcPts val="100"/>
              </a:spcBef>
            </a:pPr>
            <a:r>
              <a:rPr dirty="0" sz="4800" spc="434"/>
              <a:t>Challenges</a:t>
            </a:r>
            <a:r>
              <a:rPr dirty="0" sz="4800" spc="-190"/>
              <a:t> </a:t>
            </a:r>
            <a:r>
              <a:rPr dirty="0" sz="4800" spc="445"/>
              <a:t>in</a:t>
            </a:r>
            <a:r>
              <a:rPr dirty="0" sz="4800" spc="-185"/>
              <a:t> </a:t>
            </a:r>
            <a:r>
              <a:rPr dirty="0" sz="4800" spc="335"/>
              <a:t>Retail </a:t>
            </a:r>
            <a:r>
              <a:rPr dirty="0" sz="4800" spc="385"/>
              <a:t>Analytics</a:t>
            </a:r>
            <a:endParaRPr sz="4800"/>
          </a:p>
        </p:txBody>
      </p:sp>
      <p:sp>
        <p:nvSpPr>
          <p:cNvPr id="13" name="object 13"/>
          <p:cNvSpPr txBox="1"/>
          <p:nvPr/>
        </p:nvSpPr>
        <p:spPr>
          <a:xfrm>
            <a:off x="1291229" y="3432162"/>
            <a:ext cx="7741284" cy="169227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dirty="0" sz="1900" b="1">
                <a:latin typeface="Cambria"/>
                <a:cs typeface="Cambria"/>
              </a:rPr>
              <a:t>Limited</a:t>
            </a:r>
            <a:r>
              <a:rPr dirty="0" sz="1900" spc="65" b="1">
                <a:latin typeface="Cambria"/>
                <a:cs typeface="Cambria"/>
              </a:rPr>
              <a:t> </a:t>
            </a:r>
            <a:r>
              <a:rPr dirty="0" sz="1900" spc="-10" b="1">
                <a:latin typeface="Cambria"/>
                <a:cs typeface="Cambria"/>
              </a:rPr>
              <a:t>Insights:</a:t>
            </a:r>
            <a:endParaRPr sz="1900">
              <a:latin typeface="Cambria"/>
              <a:cs typeface="Cambria"/>
            </a:endParaRPr>
          </a:p>
          <a:p>
            <a:pPr algn="ctr" marL="12065" marR="5080">
              <a:lnSpc>
                <a:spcPct val="115100"/>
              </a:lnSpc>
            </a:pPr>
            <a:r>
              <a:rPr dirty="0" sz="1900" spc="-80">
                <a:latin typeface="Georgia"/>
                <a:cs typeface="Georgia"/>
              </a:rPr>
              <a:t>retailers</a:t>
            </a:r>
            <a:r>
              <a:rPr dirty="0" sz="1900" spc="-40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lack</a:t>
            </a:r>
            <a:r>
              <a:rPr dirty="0" sz="1900" spc="-25">
                <a:latin typeface="Georgia"/>
                <a:cs typeface="Georgia"/>
              </a:rPr>
              <a:t> </a:t>
            </a:r>
            <a:r>
              <a:rPr dirty="0" sz="1900" spc="-50">
                <a:latin typeface="Georgia"/>
                <a:cs typeface="Georgia"/>
              </a:rPr>
              <a:t>real-</a:t>
            </a:r>
            <a:r>
              <a:rPr dirty="0" sz="1900" spc="-20">
                <a:latin typeface="Georgia"/>
                <a:cs typeface="Georgia"/>
              </a:rPr>
              <a:t>time </a:t>
            </a:r>
            <a:r>
              <a:rPr dirty="0" sz="1900" spc="-40">
                <a:latin typeface="Georgia"/>
                <a:cs typeface="Georgia"/>
              </a:rPr>
              <a:t>attention</a:t>
            </a:r>
            <a:r>
              <a:rPr dirty="0" sz="1900" spc="-20">
                <a:latin typeface="Georgia"/>
                <a:cs typeface="Georgia"/>
              </a:rPr>
              <a:t> </a:t>
            </a:r>
            <a:r>
              <a:rPr dirty="0" sz="1900" spc="-80">
                <a:latin typeface="Georgia"/>
                <a:cs typeface="Georgia"/>
              </a:rPr>
              <a:t>data</a:t>
            </a:r>
            <a:r>
              <a:rPr dirty="0" sz="1900" spc="-20">
                <a:latin typeface="Georgia"/>
                <a:cs typeface="Georgia"/>
              </a:rPr>
              <a:t> Most </a:t>
            </a:r>
            <a:r>
              <a:rPr dirty="0" sz="1900" spc="-80">
                <a:latin typeface="Georgia"/>
                <a:cs typeface="Georgia"/>
              </a:rPr>
              <a:t>retailers</a:t>
            </a:r>
            <a:r>
              <a:rPr dirty="0" sz="1900" spc="-2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rely</a:t>
            </a:r>
            <a:r>
              <a:rPr dirty="0" sz="1900" spc="-1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on</a:t>
            </a:r>
            <a:r>
              <a:rPr dirty="0" sz="1900" spc="-20">
                <a:latin typeface="Georgia"/>
                <a:cs typeface="Georgia"/>
              </a:rPr>
              <a:t> </a:t>
            </a:r>
            <a:r>
              <a:rPr dirty="0" sz="1900" spc="-120">
                <a:latin typeface="Georgia"/>
                <a:cs typeface="Georgia"/>
              </a:rPr>
              <a:t>sales</a:t>
            </a:r>
            <a:r>
              <a:rPr dirty="0" sz="1900">
                <a:latin typeface="Georgia"/>
                <a:cs typeface="Georgia"/>
              </a:rPr>
              <a:t> </a:t>
            </a:r>
            <a:r>
              <a:rPr dirty="0" sz="1900" spc="-70">
                <a:latin typeface="Georgia"/>
                <a:cs typeface="Georgia"/>
              </a:rPr>
              <a:t>numbers</a:t>
            </a:r>
            <a:r>
              <a:rPr dirty="0" sz="1900" spc="-15">
                <a:latin typeface="Georgia"/>
                <a:cs typeface="Georgia"/>
              </a:rPr>
              <a:t> </a:t>
            </a:r>
            <a:r>
              <a:rPr dirty="0" sz="1900" spc="-25">
                <a:latin typeface="Georgia"/>
                <a:cs typeface="Georgia"/>
              </a:rPr>
              <a:t>or </a:t>
            </a:r>
            <a:r>
              <a:rPr dirty="0" sz="1900" spc="-65">
                <a:latin typeface="Georgia"/>
                <a:cs typeface="Georgia"/>
              </a:rPr>
              <a:t>basic</a:t>
            </a:r>
            <a:r>
              <a:rPr dirty="0" sz="1900" spc="-10">
                <a:latin typeface="Georgia"/>
                <a:cs typeface="Georgia"/>
              </a:rPr>
              <a:t> </a:t>
            </a:r>
            <a:r>
              <a:rPr dirty="0" sz="1900" spc="-30">
                <a:latin typeface="Georgia"/>
                <a:cs typeface="Georgia"/>
              </a:rPr>
              <a:t>footfall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 spc="-35">
                <a:latin typeface="Georgia"/>
                <a:cs typeface="Georgia"/>
              </a:rPr>
              <a:t>counts,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which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 spc="-40">
                <a:latin typeface="Georgia"/>
                <a:cs typeface="Georgia"/>
              </a:rPr>
              <a:t>fail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to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 spc="-55">
                <a:latin typeface="Georgia"/>
                <a:cs typeface="Georgia"/>
              </a:rPr>
              <a:t>capture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why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 spc="-65">
                <a:latin typeface="Georgia"/>
                <a:cs typeface="Georgia"/>
              </a:rPr>
              <a:t>customers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engage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 spc="-20">
                <a:latin typeface="Georgia"/>
                <a:cs typeface="Georgia"/>
              </a:rPr>
              <a:t>with </a:t>
            </a:r>
            <a:r>
              <a:rPr dirty="0" sz="1900" spc="-40">
                <a:latin typeface="Georgia"/>
                <a:cs typeface="Georgia"/>
              </a:rPr>
              <a:t>certain </a:t>
            </a:r>
            <a:r>
              <a:rPr dirty="0" sz="1900" spc="-50">
                <a:latin typeface="Georgia"/>
                <a:cs typeface="Georgia"/>
              </a:rPr>
              <a:t>products.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Without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30">
                <a:latin typeface="Georgia"/>
                <a:cs typeface="Georgia"/>
              </a:rPr>
              <a:t>visibility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into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40">
                <a:latin typeface="Georgia"/>
                <a:cs typeface="Georgia"/>
              </a:rPr>
              <a:t>attention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70">
                <a:latin typeface="Georgia"/>
                <a:cs typeface="Georgia"/>
              </a:rPr>
              <a:t>patterns,</a:t>
            </a:r>
            <a:r>
              <a:rPr dirty="0" sz="1900" spc="-4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they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20">
                <a:latin typeface="Georgia"/>
                <a:cs typeface="Georgia"/>
              </a:rPr>
              <a:t>miss </a:t>
            </a:r>
            <a:r>
              <a:rPr dirty="0" sz="1900" spc="-50">
                <a:latin typeface="Georgia"/>
                <a:cs typeface="Georgia"/>
              </a:rPr>
              <a:t>opportunities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to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25">
                <a:latin typeface="Georgia"/>
                <a:cs typeface="Georgia"/>
              </a:rPr>
              <a:t>optimize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60">
                <a:latin typeface="Georgia"/>
                <a:cs typeface="Georgia"/>
              </a:rPr>
              <a:t>shelf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50">
                <a:latin typeface="Georgia"/>
                <a:cs typeface="Georgia"/>
              </a:rPr>
              <a:t>placement</a:t>
            </a:r>
            <a:r>
              <a:rPr dirty="0" sz="1900" spc="-35">
                <a:latin typeface="Georgia"/>
                <a:cs typeface="Georgia"/>
              </a:rPr>
              <a:t> </a:t>
            </a:r>
            <a:r>
              <a:rPr dirty="0" sz="1900" spc="-50">
                <a:latin typeface="Georgia"/>
                <a:cs typeface="Georgia"/>
              </a:rPr>
              <a:t>and</a:t>
            </a:r>
            <a:r>
              <a:rPr dirty="0" sz="1900" spc="-30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promotions.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75715" y="3584783"/>
            <a:ext cx="796544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6300"/>
              </a:lnSpc>
              <a:spcBef>
                <a:spcPts val="95"/>
              </a:spcBef>
            </a:pPr>
            <a:r>
              <a:rPr dirty="0" sz="2150" b="1">
                <a:latin typeface="Cambria"/>
                <a:cs typeface="Cambria"/>
              </a:rPr>
              <a:t>Manual</a:t>
            </a:r>
            <a:r>
              <a:rPr dirty="0" sz="2150" spc="6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Observation</a:t>
            </a:r>
            <a:r>
              <a:rPr dirty="0" sz="2150" spc="75" b="1">
                <a:latin typeface="Cambria"/>
                <a:cs typeface="Cambria"/>
              </a:rPr>
              <a:t> </a:t>
            </a:r>
            <a:r>
              <a:rPr dirty="0" sz="2150" spc="114" b="1">
                <a:latin typeface="Cambria"/>
                <a:cs typeface="Cambria"/>
              </a:rPr>
              <a:t>–</a:t>
            </a:r>
            <a:r>
              <a:rPr dirty="0" sz="2150" spc="7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inefficient,</a:t>
            </a:r>
            <a:r>
              <a:rPr dirty="0" sz="2150" spc="80" b="1">
                <a:latin typeface="Cambria"/>
                <a:cs typeface="Cambria"/>
              </a:rPr>
              <a:t> </a:t>
            </a:r>
            <a:r>
              <a:rPr dirty="0" sz="2150" spc="-60" b="1">
                <a:latin typeface="Cambria"/>
                <a:cs typeface="Cambria"/>
              </a:rPr>
              <a:t>error-</a:t>
            </a:r>
            <a:r>
              <a:rPr dirty="0" sz="2150" spc="-10" b="1">
                <a:latin typeface="Cambria"/>
                <a:cs typeface="Cambria"/>
              </a:rPr>
              <a:t>prone,</a:t>
            </a:r>
            <a:r>
              <a:rPr dirty="0" sz="2150" spc="7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low</a:t>
            </a:r>
            <a:r>
              <a:rPr dirty="0" sz="2150" spc="75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accuracy: </a:t>
            </a:r>
            <a:r>
              <a:rPr dirty="0" sz="2150" spc="-35">
                <a:latin typeface="Georgia"/>
                <a:cs typeface="Georgia"/>
              </a:rPr>
              <a:t>Traditional</a:t>
            </a:r>
            <a:r>
              <a:rPr dirty="0" sz="2150" spc="-45">
                <a:latin typeface="Georgia"/>
                <a:cs typeface="Georgia"/>
              </a:rPr>
              <a:t> </a:t>
            </a:r>
            <a:r>
              <a:rPr dirty="0" sz="2150" spc="-70">
                <a:latin typeface="Georgia"/>
                <a:cs typeface="Georgia"/>
              </a:rPr>
              <a:t>methods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>
                <a:latin typeface="Georgia"/>
                <a:cs typeface="Georgia"/>
              </a:rPr>
              <a:t>like</a:t>
            </a:r>
            <a:r>
              <a:rPr dirty="0" sz="2150" spc="-45">
                <a:latin typeface="Georgia"/>
                <a:cs typeface="Georgia"/>
              </a:rPr>
              <a:t> </a:t>
            </a:r>
            <a:r>
              <a:rPr dirty="0" sz="2150" spc="-85">
                <a:latin typeface="Georgia"/>
                <a:cs typeface="Georgia"/>
              </a:rPr>
              <a:t>staff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 spc="-50">
                <a:latin typeface="Georgia"/>
                <a:cs typeface="Georgia"/>
              </a:rPr>
              <a:t>observation</a:t>
            </a:r>
            <a:r>
              <a:rPr dirty="0" sz="2150" spc="-45">
                <a:latin typeface="Georgia"/>
                <a:cs typeface="Georgia"/>
              </a:rPr>
              <a:t> </a:t>
            </a:r>
            <a:r>
              <a:rPr dirty="0" sz="2150">
                <a:latin typeface="Georgia"/>
                <a:cs typeface="Georgia"/>
              </a:rPr>
              <a:t>or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 spc="-55">
                <a:latin typeface="Georgia"/>
                <a:cs typeface="Georgia"/>
              </a:rPr>
              <a:t>surveys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 spc="-65">
                <a:latin typeface="Georgia"/>
                <a:cs typeface="Georgia"/>
              </a:rPr>
              <a:t>are</a:t>
            </a:r>
            <a:r>
              <a:rPr dirty="0" sz="2150" spc="-45">
                <a:latin typeface="Georgia"/>
                <a:cs typeface="Georgia"/>
              </a:rPr>
              <a:t> </a:t>
            </a:r>
            <a:r>
              <a:rPr dirty="0" sz="2150" spc="-10">
                <a:latin typeface="Georgia"/>
                <a:cs typeface="Georgia"/>
              </a:rPr>
              <a:t>slow, </a:t>
            </a:r>
            <a:r>
              <a:rPr dirty="0" sz="2150" spc="-40">
                <a:latin typeface="Georgia"/>
                <a:cs typeface="Georgia"/>
              </a:rPr>
              <a:t>subjective, </a:t>
            </a:r>
            <a:r>
              <a:rPr dirty="0" sz="2150" spc="-65">
                <a:latin typeface="Georgia"/>
                <a:cs typeface="Georgia"/>
              </a:rPr>
              <a:t>and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 spc="-25">
                <a:latin typeface="Georgia"/>
                <a:cs typeface="Georgia"/>
              </a:rPr>
              <a:t>prone</a:t>
            </a:r>
            <a:r>
              <a:rPr dirty="0" sz="2150" spc="-35">
                <a:latin typeface="Georgia"/>
                <a:cs typeface="Georgia"/>
              </a:rPr>
              <a:t> </a:t>
            </a:r>
            <a:r>
              <a:rPr dirty="0" sz="2150">
                <a:latin typeface="Georgia"/>
                <a:cs typeface="Georgia"/>
              </a:rPr>
              <a:t>to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 spc="-60">
                <a:latin typeface="Georgia"/>
                <a:cs typeface="Georgia"/>
              </a:rPr>
              <a:t>human</a:t>
            </a:r>
            <a:r>
              <a:rPr dirty="0" sz="2150" spc="-35">
                <a:latin typeface="Georgia"/>
                <a:cs typeface="Georgia"/>
              </a:rPr>
              <a:t> </a:t>
            </a:r>
            <a:r>
              <a:rPr dirty="0" sz="2150" spc="-40">
                <a:latin typeface="Georgia"/>
                <a:cs typeface="Georgia"/>
              </a:rPr>
              <a:t>error. </a:t>
            </a:r>
            <a:r>
              <a:rPr dirty="0" sz="2150" spc="55">
                <a:latin typeface="Georgia"/>
                <a:cs typeface="Georgia"/>
              </a:rPr>
              <a:t>They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 spc="-30">
                <a:latin typeface="Georgia"/>
                <a:cs typeface="Georgia"/>
              </a:rPr>
              <a:t>cannot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 spc="-75">
                <a:latin typeface="Georgia"/>
                <a:cs typeface="Georgia"/>
              </a:rPr>
              <a:t>scale</a:t>
            </a:r>
            <a:r>
              <a:rPr dirty="0" sz="2150" spc="-35">
                <a:latin typeface="Georgia"/>
                <a:cs typeface="Georgia"/>
              </a:rPr>
              <a:t> </a:t>
            </a:r>
            <a:r>
              <a:rPr dirty="0" sz="2150" spc="-10">
                <a:latin typeface="Georgia"/>
                <a:cs typeface="Georgia"/>
              </a:rPr>
              <a:t>across </a:t>
            </a:r>
            <a:r>
              <a:rPr dirty="0" sz="2150" spc="-45">
                <a:latin typeface="Georgia"/>
                <a:cs typeface="Georgia"/>
              </a:rPr>
              <a:t>multiple</a:t>
            </a:r>
            <a:r>
              <a:rPr dirty="0" sz="2150" spc="-70">
                <a:latin typeface="Georgia"/>
                <a:cs typeface="Georgia"/>
              </a:rPr>
              <a:t> </a:t>
            </a:r>
            <a:r>
              <a:rPr dirty="0" sz="2150" spc="-90">
                <a:latin typeface="Georgia"/>
                <a:cs typeface="Georgia"/>
              </a:rPr>
              <a:t>stores</a:t>
            </a:r>
            <a:r>
              <a:rPr dirty="0" sz="2150" spc="-40">
                <a:latin typeface="Georgia"/>
                <a:cs typeface="Georgia"/>
              </a:rPr>
              <a:t> </a:t>
            </a:r>
            <a:r>
              <a:rPr dirty="0" sz="2150">
                <a:latin typeface="Georgia"/>
                <a:cs typeface="Georgia"/>
              </a:rPr>
              <a:t>or</a:t>
            </a:r>
            <a:r>
              <a:rPr dirty="0" sz="2150" spc="-45">
                <a:latin typeface="Georgia"/>
                <a:cs typeface="Georgia"/>
              </a:rPr>
              <a:t> </a:t>
            </a:r>
            <a:r>
              <a:rPr dirty="0" sz="2150" spc="-25">
                <a:latin typeface="Georgia"/>
                <a:cs typeface="Georgia"/>
              </a:rPr>
              <a:t>provide</a:t>
            </a:r>
            <a:r>
              <a:rPr dirty="0" sz="2150" spc="-50">
                <a:latin typeface="Georgia"/>
                <a:cs typeface="Georgia"/>
              </a:rPr>
              <a:t> </a:t>
            </a:r>
            <a:r>
              <a:rPr dirty="0" sz="2150" spc="-60">
                <a:latin typeface="Georgia"/>
                <a:cs typeface="Georgia"/>
              </a:rPr>
              <a:t>consistent,</a:t>
            </a:r>
            <a:r>
              <a:rPr dirty="0" sz="2150" spc="-45">
                <a:latin typeface="Georgia"/>
                <a:cs typeface="Georgia"/>
              </a:rPr>
              <a:t> </a:t>
            </a:r>
            <a:r>
              <a:rPr dirty="0" sz="2150" spc="-50">
                <a:latin typeface="Georgia"/>
                <a:cs typeface="Georgia"/>
              </a:rPr>
              <a:t>actionable insights </a:t>
            </a:r>
            <a:r>
              <a:rPr dirty="0" sz="2150">
                <a:latin typeface="Georgia"/>
                <a:cs typeface="Georgia"/>
              </a:rPr>
              <a:t>in</a:t>
            </a:r>
            <a:r>
              <a:rPr dirty="0" sz="2150" spc="-50">
                <a:latin typeface="Georgia"/>
                <a:cs typeface="Georgia"/>
              </a:rPr>
              <a:t> </a:t>
            </a:r>
            <a:r>
              <a:rPr dirty="0" sz="2150" spc="-60">
                <a:latin typeface="Georgia"/>
                <a:cs typeface="Georgia"/>
              </a:rPr>
              <a:t>real</a:t>
            </a:r>
            <a:r>
              <a:rPr dirty="0" sz="2150" spc="-45">
                <a:latin typeface="Georgia"/>
                <a:cs typeface="Georgia"/>
              </a:rPr>
              <a:t> </a:t>
            </a:r>
            <a:r>
              <a:rPr dirty="0" sz="2150" spc="-10">
                <a:latin typeface="Georgia"/>
                <a:cs typeface="Georgia"/>
              </a:rPr>
              <a:t>time.</a:t>
            </a:r>
            <a:endParaRPr sz="21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652" y="7026602"/>
            <a:ext cx="9088755" cy="17799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2000" b="1">
                <a:latin typeface="Cambria"/>
                <a:cs typeface="Cambria"/>
              </a:rPr>
              <a:t>Poor</a:t>
            </a:r>
            <a:r>
              <a:rPr dirty="0" sz="2000" spc="20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Shelf</a:t>
            </a:r>
            <a:r>
              <a:rPr dirty="0" sz="2000" spc="2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Placement</a:t>
            </a:r>
            <a:r>
              <a:rPr dirty="0" sz="2000" spc="25" b="1">
                <a:latin typeface="Cambria"/>
                <a:cs typeface="Cambria"/>
              </a:rPr>
              <a:t> </a:t>
            </a:r>
            <a:r>
              <a:rPr dirty="0" sz="2000" spc="-50" b="1">
                <a:latin typeface="Cambria"/>
                <a:cs typeface="Cambria"/>
              </a:rPr>
              <a:t>: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000">
              <a:latin typeface="Cambria"/>
              <a:cs typeface="Cambria"/>
            </a:endParaRPr>
          </a:p>
          <a:p>
            <a:pPr algn="ctr" marL="12065" marR="5080" indent="69215">
              <a:lnSpc>
                <a:spcPct val="118400"/>
              </a:lnSpc>
            </a:pPr>
            <a:r>
              <a:rPr dirty="0" sz="2000" spc="-55">
                <a:latin typeface="Georgia"/>
                <a:cs typeface="Georgia"/>
              </a:rPr>
              <a:t>reduces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visibility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and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conversions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Products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often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65">
                <a:latin typeface="Georgia"/>
                <a:cs typeface="Georgia"/>
              </a:rPr>
              <a:t>go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unnoticed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due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suboptimal </a:t>
            </a:r>
            <a:r>
              <a:rPr dirty="0" sz="2000" spc="-55">
                <a:latin typeface="Georgia"/>
                <a:cs typeface="Georgia"/>
              </a:rPr>
              <a:t>shelf</a:t>
            </a:r>
            <a:r>
              <a:rPr dirty="0" sz="2000" spc="-20">
                <a:latin typeface="Georgia"/>
                <a:cs typeface="Georgia"/>
              </a:rPr>
              <a:t> positioning. </a:t>
            </a:r>
            <a:r>
              <a:rPr dirty="0" sz="2000">
                <a:latin typeface="Georgia"/>
                <a:cs typeface="Georgia"/>
              </a:rPr>
              <a:t>This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85">
                <a:latin typeface="Georgia"/>
                <a:cs typeface="Georgia"/>
              </a:rPr>
              <a:t>leads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wasted</a:t>
            </a:r>
            <a:r>
              <a:rPr dirty="0" sz="2000" spc="-20">
                <a:latin typeface="Georgia"/>
                <a:cs typeface="Georgia"/>
              </a:rPr>
              <a:t> marketing </a:t>
            </a:r>
            <a:r>
              <a:rPr dirty="0" sz="2000" spc="-60">
                <a:latin typeface="Georgia"/>
                <a:cs typeface="Georgia"/>
              </a:rPr>
              <a:t>spend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and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lower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conversion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rates, </a:t>
            </a:r>
            <a:r>
              <a:rPr dirty="0" sz="2000" spc="-155">
                <a:latin typeface="Georgia"/>
                <a:cs typeface="Georgia"/>
              </a:rPr>
              <a:t>as</a:t>
            </a:r>
            <a:r>
              <a:rPr dirty="0" sz="2000" spc="3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retailers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cannot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identify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which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placements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truly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drive</a:t>
            </a:r>
            <a:r>
              <a:rPr dirty="0" sz="2000" spc="-40">
                <a:latin typeface="Georgia"/>
                <a:cs typeface="Georgia"/>
              </a:rPr>
              <a:t> customer </a:t>
            </a:r>
            <a:r>
              <a:rPr dirty="0" sz="2000" spc="-10">
                <a:latin typeface="Georgia"/>
                <a:cs typeface="Georgia"/>
              </a:rPr>
              <a:t>engagement.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59940" y="7019002"/>
            <a:ext cx="8316595" cy="19030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900" spc="-10" b="1">
                <a:latin typeface="Cambria"/>
                <a:cs typeface="Cambria"/>
              </a:rPr>
              <a:t>Solution: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900">
              <a:latin typeface="Cambria"/>
              <a:cs typeface="Cambria"/>
            </a:endParaRPr>
          </a:p>
          <a:p>
            <a:pPr algn="ctr" marL="12700" marR="5080" indent="62230">
              <a:lnSpc>
                <a:spcPct val="114599"/>
              </a:lnSpc>
            </a:pPr>
            <a:r>
              <a:rPr dirty="0" sz="1800">
                <a:latin typeface="Georgia"/>
                <a:cs typeface="Georgia"/>
              </a:rPr>
              <a:t>AI-</a:t>
            </a:r>
            <a:r>
              <a:rPr dirty="0" sz="1800" spc="-10">
                <a:latin typeface="Georgia"/>
                <a:cs typeface="Georgia"/>
              </a:rPr>
              <a:t>powered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50">
                <a:latin typeface="Georgia"/>
                <a:cs typeface="Georgia"/>
              </a:rPr>
              <a:t>platform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for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60">
                <a:latin typeface="Georgia"/>
                <a:cs typeface="Georgia"/>
              </a:rPr>
              <a:t>automated,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45">
                <a:latin typeface="Georgia"/>
                <a:cs typeface="Georgia"/>
              </a:rPr>
              <a:t>real-</a:t>
            </a:r>
            <a:r>
              <a:rPr dirty="0" sz="1800" spc="-20">
                <a:latin typeface="Georgia"/>
                <a:cs typeface="Georgia"/>
              </a:rPr>
              <a:t>time </a:t>
            </a:r>
            <a:r>
              <a:rPr dirty="0" sz="1800" spc="-45">
                <a:latin typeface="Georgia"/>
                <a:cs typeface="Georgia"/>
              </a:rPr>
              <a:t>consumer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50">
                <a:latin typeface="Georgia"/>
                <a:cs typeface="Georgia"/>
              </a:rPr>
              <a:t>analytics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60">
                <a:latin typeface="Georgia"/>
                <a:cs typeface="Georgia"/>
              </a:rPr>
              <a:t>By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leveraging </a:t>
            </a:r>
            <a:r>
              <a:rPr dirty="0" sz="1800" spc="-80">
                <a:latin typeface="Georgia"/>
                <a:cs typeface="Georgia"/>
              </a:rPr>
              <a:t>cameras,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35">
                <a:latin typeface="Georgia"/>
                <a:cs typeface="Georgia"/>
              </a:rPr>
              <a:t>computer</a:t>
            </a:r>
            <a:r>
              <a:rPr dirty="0" sz="1800" spc="-25">
                <a:latin typeface="Georgia"/>
                <a:cs typeface="Georgia"/>
              </a:rPr>
              <a:t> vision, </a:t>
            </a:r>
            <a:r>
              <a:rPr dirty="0" sz="1800" spc="-45">
                <a:latin typeface="Georgia"/>
                <a:cs typeface="Georgia"/>
              </a:rPr>
              <a:t>and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AI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60">
                <a:latin typeface="Georgia"/>
                <a:cs typeface="Georgia"/>
              </a:rPr>
              <a:t>models,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the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70">
                <a:latin typeface="Georgia"/>
                <a:cs typeface="Georgia"/>
              </a:rPr>
              <a:t>system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50">
                <a:latin typeface="Georgia"/>
                <a:cs typeface="Georgia"/>
              </a:rPr>
              <a:t>delivers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20">
                <a:latin typeface="Georgia"/>
                <a:cs typeface="Georgia"/>
              </a:rPr>
              <a:t>objective,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65">
                <a:latin typeface="Georgia"/>
                <a:cs typeface="Georgia"/>
              </a:rPr>
              <a:t>scalable,</a:t>
            </a:r>
            <a:r>
              <a:rPr dirty="0" sz="1800" spc="-25">
                <a:latin typeface="Georgia"/>
                <a:cs typeface="Georgia"/>
              </a:rPr>
              <a:t> and </a:t>
            </a:r>
            <a:r>
              <a:rPr dirty="0" sz="1800" spc="-45">
                <a:latin typeface="Georgia"/>
                <a:cs typeface="Georgia"/>
              </a:rPr>
              <a:t>real-</a:t>
            </a:r>
            <a:r>
              <a:rPr dirty="0" sz="1800" spc="-20">
                <a:latin typeface="Georgia"/>
                <a:cs typeface="Georgia"/>
              </a:rPr>
              <a:t>time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45">
                <a:latin typeface="Georgia"/>
                <a:cs typeface="Georgia"/>
              </a:rPr>
              <a:t>insights.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70">
                <a:latin typeface="Georgia"/>
                <a:cs typeface="Georgia"/>
              </a:rPr>
              <a:t>Retailers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gain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45">
                <a:latin typeface="Georgia"/>
                <a:cs typeface="Georgia"/>
              </a:rPr>
              <a:t>actionable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25">
                <a:latin typeface="Georgia"/>
                <a:cs typeface="Georgia"/>
              </a:rPr>
              <a:t>intelligence </a:t>
            </a:r>
            <a:r>
              <a:rPr dirty="0" sz="1800">
                <a:latin typeface="Georgia"/>
                <a:cs typeface="Georgia"/>
              </a:rPr>
              <a:t>to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25">
                <a:latin typeface="Georgia"/>
                <a:cs typeface="Georgia"/>
              </a:rPr>
              <a:t>improve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 spc="-30">
                <a:latin typeface="Georgia"/>
                <a:cs typeface="Georgia"/>
              </a:rPr>
              <a:t>product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visibility, </a:t>
            </a:r>
            <a:r>
              <a:rPr dirty="0" sz="1800" spc="-25">
                <a:latin typeface="Georgia"/>
                <a:cs typeface="Georgia"/>
              </a:rPr>
              <a:t>optimize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 spc="-40">
                <a:latin typeface="Georgia"/>
                <a:cs typeface="Georgia"/>
              </a:rPr>
              <a:t>layouts,</a:t>
            </a:r>
            <a:r>
              <a:rPr dirty="0" sz="1800" spc="-45">
                <a:latin typeface="Georgia"/>
                <a:cs typeface="Georgia"/>
              </a:rPr>
              <a:t> and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 spc="-40">
                <a:latin typeface="Georgia"/>
                <a:cs typeface="Georgia"/>
              </a:rPr>
              <a:t>boost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conversions.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2D0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9392479"/>
            <a:ext cx="2518410" cy="894715"/>
            <a:chOff x="0" y="9392479"/>
            <a:chExt cx="2518410" cy="894715"/>
          </a:xfrm>
        </p:grpSpPr>
        <p:sp>
          <p:nvSpPr>
            <p:cNvPr id="4" name="object 4"/>
            <p:cNvSpPr/>
            <p:nvPr/>
          </p:nvSpPr>
          <p:spPr>
            <a:xfrm>
              <a:off x="0" y="9392479"/>
              <a:ext cx="2518410" cy="894715"/>
            </a:xfrm>
            <a:custGeom>
              <a:avLst/>
              <a:gdLst/>
              <a:ahLst/>
              <a:cxnLst/>
              <a:rect l="l" t="t" r="r" b="b"/>
              <a:pathLst>
                <a:path w="2518410" h="894715">
                  <a:moveTo>
                    <a:pt x="0" y="894520"/>
                  </a:moveTo>
                  <a:lnTo>
                    <a:pt x="2518222" y="894520"/>
                  </a:lnTo>
                  <a:lnTo>
                    <a:pt x="1698674" y="0"/>
                  </a:lnTo>
                  <a:lnTo>
                    <a:pt x="0" y="0"/>
                  </a:lnTo>
                  <a:lnTo>
                    <a:pt x="0" y="89452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92487"/>
              <a:ext cx="1652905" cy="894715"/>
            </a:xfrm>
            <a:custGeom>
              <a:avLst/>
              <a:gdLst/>
              <a:ahLst/>
              <a:cxnLst/>
              <a:rect l="l" t="t" r="r" b="b"/>
              <a:pathLst>
                <a:path w="1652905" h="894715">
                  <a:moveTo>
                    <a:pt x="787819" y="894524"/>
                  </a:moveTo>
                  <a:lnTo>
                    <a:pt x="0" y="34620"/>
                  </a:lnTo>
                  <a:lnTo>
                    <a:pt x="0" y="496646"/>
                  </a:lnTo>
                  <a:lnTo>
                    <a:pt x="363423" y="894524"/>
                  </a:lnTo>
                  <a:lnTo>
                    <a:pt x="787819" y="894524"/>
                  </a:lnTo>
                  <a:close/>
                </a:path>
                <a:path w="1652905" h="894715">
                  <a:moveTo>
                    <a:pt x="1652828" y="894511"/>
                  </a:moveTo>
                  <a:lnTo>
                    <a:pt x="833272" y="0"/>
                  </a:lnTo>
                  <a:lnTo>
                    <a:pt x="411797" y="0"/>
                  </a:lnTo>
                  <a:lnTo>
                    <a:pt x="1228686" y="894511"/>
                  </a:lnTo>
                  <a:lnTo>
                    <a:pt x="1652828" y="894511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3417570" cy="1695450"/>
            <a:chOff x="0" y="0"/>
            <a:chExt cx="3417570" cy="169545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894205" cy="1207770"/>
            </a:xfrm>
            <a:custGeom>
              <a:avLst/>
              <a:gdLst/>
              <a:ahLst/>
              <a:cxnLst/>
              <a:rect l="l" t="t" r="r" b="b"/>
              <a:pathLst>
                <a:path w="1894205" h="1207770">
                  <a:moveTo>
                    <a:pt x="787357" y="1207342"/>
                  </a:moveTo>
                  <a:lnTo>
                    <a:pt x="0" y="348074"/>
                  </a:lnTo>
                  <a:lnTo>
                    <a:pt x="0" y="0"/>
                  </a:lnTo>
                  <a:lnTo>
                    <a:pt x="1893584" y="0"/>
                  </a:lnTo>
                  <a:lnTo>
                    <a:pt x="787357" y="120734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187450" cy="1204595"/>
            </a:xfrm>
            <a:custGeom>
              <a:avLst/>
              <a:gdLst/>
              <a:ahLst/>
              <a:cxnLst/>
              <a:rect l="l" t="t" r="r" b="b"/>
              <a:pathLst>
                <a:path w="1187450" h="1204595">
                  <a:moveTo>
                    <a:pt x="784738" y="1204320"/>
                  </a:moveTo>
                  <a:lnTo>
                    <a:pt x="0" y="348067"/>
                  </a:lnTo>
                  <a:lnTo>
                    <a:pt x="0" y="0"/>
                  </a:lnTo>
                  <a:lnTo>
                    <a:pt x="501430" y="0"/>
                  </a:lnTo>
                  <a:lnTo>
                    <a:pt x="1187063" y="765126"/>
                  </a:lnTo>
                  <a:lnTo>
                    <a:pt x="784738" y="1204320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2192020" cy="1695450"/>
            </a:xfrm>
            <a:custGeom>
              <a:avLst/>
              <a:gdLst/>
              <a:ahLst/>
              <a:cxnLst/>
              <a:rect l="l" t="t" r="r" b="b"/>
              <a:pathLst>
                <a:path w="2192020" h="1695450">
                  <a:moveTo>
                    <a:pt x="942509" y="1363679"/>
                  </a:moveTo>
                  <a:lnTo>
                    <a:pt x="638676" y="1363679"/>
                  </a:lnTo>
                  <a:lnTo>
                    <a:pt x="1892590" y="0"/>
                  </a:lnTo>
                  <a:lnTo>
                    <a:pt x="2191958" y="0"/>
                  </a:lnTo>
                  <a:lnTo>
                    <a:pt x="942509" y="1363679"/>
                  </a:lnTo>
                  <a:close/>
                </a:path>
                <a:path w="2192020" h="1695450">
                  <a:moveTo>
                    <a:pt x="638676" y="1695290"/>
                  </a:moveTo>
                  <a:lnTo>
                    <a:pt x="0" y="998396"/>
                  </a:lnTo>
                  <a:lnTo>
                    <a:pt x="0" y="666785"/>
                  </a:lnTo>
                  <a:lnTo>
                    <a:pt x="638676" y="1363679"/>
                  </a:lnTo>
                  <a:lnTo>
                    <a:pt x="942509" y="1363679"/>
                  </a:lnTo>
                  <a:lnTo>
                    <a:pt x="638676" y="169529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19151" y="0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1997928" y="843295"/>
                  </a:moveTo>
                  <a:lnTo>
                    <a:pt x="0" y="843295"/>
                  </a:lnTo>
                  <a:lnTo>
                    <a:pt x="772616" y="0"/>
                  </a:lnTo>
                  <a:lnTo>
                    <a:pt x="1997928" y="0"/>
                  </a:lnTo>
                  <a:lnTo>
                    <a:pt x="1997928" y="843295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419352" y="11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989253" y="0"/>
                  </a:moveTo>
                  <a:lnTo>
                    <a:pt x="772617" y="0"/>
                  </a:lnTo>
                  <a:lnTo>
                    <a:pt x="0" y="843292"/>
                  </a:lnTo>
                  <a:lnTo>
                    <a:pt x="218986" y="843292"/>
                  </a:lnTo>
                  <a:lnTo>
                    <a:pt x="989253" y="0"/>
                  </a:lnTo>
                  <a:close/>
                </a:path>
                <a:path w="1998345" h="843915">
                  <a:moveTo>
                    <a:pt x="1432077" y="0"/>
                  </a:moveTo>
                  <a:lnTo>
                    <a:pt x="1215428" y="0"/>
                  </a:lnTo>
                  <a:lnTo>
                    <a:pt x="442810" y="843292"/>
                  </a:lnTo>
                  <a:lnTo>
                    <a:pt x="661809" y="843292"/>
                  </a:lnTo>
                  <a:lnTo>
                    <a:pt x="1432077" y="0"/>
                  </a:lnTo>
                  <a:close/>
                </a:path>
                <a:path w="1998345" h="843915">
                  <a:moveTo>
                    <a:pt x="1875129" y="0"/>
                  </a:moveTo>
                  <a:lnTo>
                    <a:pt x="1658404" y="0"/>
                  </a:lnTo>
                  <a:lnTo>
                    <a:pt x="885634" y="843292"/>
                  </a:lnTo>
                  <a:lnTo>
                    <a:pt x="1104823" y="843292"/>
                  </a:lnTo>
                  <a:lnTo>
                    <a:pt x="1875129" y="0"/>
                  </a:lnTo>
                  <a:close/>
                </a:path>
                <a:path w="1998345" h="843915">
                  <a:moveTo>
                    <a:pt x="1997722" y="113182"/>
                  </a:moveTo>
                  <a:lnTo>
                    <a:pt x="1328661" y="843292"/>
                  </a:lnTo>
                  <a:lnTo>
                    <a:pt x="1547647" y="843292"/>
                  </a:lnTo>
                  <a:lnTo>
                    <a:pt x="1997722" y="350710"/>
                  </a:lnTo>
                  <a:lnTo>
                    <a:pt x="1997722" y="11318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13842607" y="9418208"/>
            <a:ext cx="4445635" cy="869315"/>
          </a:xfrm>
          <a:custGeom>
            <a:avLst/>
            <a:gdLst/>
            <a:ahLst/>
            <a:cxnLst/>
            <a:rect l="l" t="t" r="r" b="b"/>
            <a:pathLst>
              <a:path w="4445634" h="869315">
                <a:moveTo>
                  <a:pt x="0" y="0"/>
                </a:moveTo>
                <a:lnTo>
                  <a:pt x="4445390" y="0"/>
                </a:lnTo>
                <a:lnTo>
                  <a:pt x="4445390" y="868790"/>
                </a:lnTo>
                <a:lnTo>
                  <a:pt x="0" y="868790"/>
                </a:lnTo>
                <a:lnTo>
                  <a:pt x="0" y="0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4028" rIns="0" bIns="0" rtlCol="0" vert="horz">
            <a:spAutoFit/>
          </a:bodyPr>
          <a:lstStyle/>
          <a:p>
            <a:pPr marL="626745">
              <a:lnSpc>
                <a:spcPct val="100000"/>
              </a:lnSpc>
              <a:spcBef>
                <a:spcPts val="95"/>
              </a:spcBef>
            </a:pPr>
            <a:r>
              <a:rPr dirty="0" sz="6200" spc="685"/>
              <a:t>System</a:t>
            </a:r>
            <a:r>
              <a:rPr dirty="0" sz="6200" spc="-240"/>
              <a:t> </a:t>
            </a:r>
            <a:r>
              <a:rPr dirty="0" sz="6200" spc="555"/>
              <a:t>Architecture</a:t>
            </a:r>
            <a:endParaRPr sz="6200"/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60705" marR="5080">
              <a:lnSpc>
                <a:spcPct val="115399"/>
              </a:lnSpc>
              <a:spcBef>
                <a:spcPts val="95"/>
              </a:spcBef>
            </a:pPr>
            <a:r>
              <a:rPr dirty="0" sz="2600"/>
              <a:t>The</a:t>
            </a:r>
            <a:r>
              <a:rPr dirty="0" sz="2600" spc="-55"/>
              <a:t> </a:t>
            </a:r>
            <a:r>
              <a:rPr dirty="0" sz="2600" spc="-65"/>
              <a:t>architecture</a:t>
            </a:r>
            <a:r>
              <a:rPr dirty="0" sz="2600" spc="-45"/>
              <a:t> </a:t>
            </a:r>
            <a:r>
              <a:rPr dirty="0" sz="2600"/>
              <a:t>of</a:t>
            </a:r>
            <a:r>
              <a:rPr dirty="0" sz="2600" spc="-50"/>
              <a:t> </a:t>
            </a:r>
            <a:r>
              <a:rPr dirty="0" sz="2600" spc="-10"/>
              <a:t>the</a:t>
            </a:r>
            <a:r>
              <a:rPr dirty="0" sz="2600" spc="-45"/>
              <a:t> </a:t>
            </a:r>
            <a:r>
              <a:rPr dirty="0" sz="2600" spc="-25"/>
              <a:t>Consumer</a:t>
            </a:r>
            <a:r>
              <a:rPr dirty="0" sz="2600" spc="-50"/>
              <a:t> </a:t>
            </a:r>
            <a:r>
              <a:rPr dirty="0" sz="2600" spc="-25"/>
              <a:t>Attention</a:t>
            </a:r>
            <a:r>
              <a:rPr dirty="0" sz="2600" spc="-45"/>
              <a:t> </a:t>
            </a:r>
            <a:r>
              <a:rPr dirty="0" sz="2600" spc="-20"/>
              <a:t>Mapping</a:t>
            </a:r>
            <a:r>
              <a:rPr dirty="0" sz="2600" spc="-50"/>
              <a:t> </a:t>
            </a:r>
            <a:r>
              <a:rPr dirty="0" sz="2600" spc="-75"/>
              <a:t>System</a:t>
            </a:r>
            <a:r>
              <a:rPr dirty="0" sz="2600" spc="-45"/>
              <a:t> </a:t>
            </a:r>
            <a:r>
              <a:rPr dirty="0" sz="2600" spc="-65"/>
              <a:t>is</a:t>
            </a:r>
            <a:r>
              <a:rPr dirty="0" sz="2600" spc="-45"/>
              <a:t> </a:t>
            </a:r>
            <a:r>
              <a:rPr dirty="0" sz="2600" spc="-55"/>
              <a:t>designed</a:t>
            </a:r>
            <a:r>
              <a:rPr dirty="0" sz="2600" spc="-50"/>
              <a:t> </a:t>
            </a:r>
            <a:r>
              <a:rPr dirty="0" sz="2600"/>
              <a:t>for</a:t>
            </a:r>
            <a:r>
              <a:rPr dirty="0" sz="2600" spc="-45"/>
              <a:t> </a:t>
            </a:r>
            <a:r>
              <a:rPr dirty="0" sz="2600" spc="-114"/>
              <a:t>robustness,</a:t>
            </a:r>
            <a:r>
              <a:rPr dirty="0" sz="2600" spc="-40"/>
              <a:t> </a:t>
            </a:r>
            <a:r>
              <a:rPr dirty="0" sz="2600" spc="-70"/>
              <a:t>scalability,</a:t>
            </a:r>
            <a:r>
              <a:rPr dirty="0" sz="2600" spc="-50"/>
              <a:t> </a:t>
            </a:r>
            <a:r>
              <a:rPr dirty="0" sz="2600" spc="-65"/>
              <a:t>and</a:t>
            </a:r>
            <a:r>
              <a:rPr dirty="0" sz="2600" spc="-45"/>
              <a:t> </a:t>
            </a:r>
            <a:r>
              <a:rPr dirty="0" sz="2600" spc="-50"/>
              <a:t>security. </a:t>
            </a:r>
            <a:r>
              <a:rPr dirty="0" sz="2600"/>
              <a:t>At</a:t>
            </a:r>
            <a:r>
              <a:rPr dirty="0" sz="2600" spc="-45"/>
              <a:t> </a:t>
            </a:r>
            <a:r>
              <a:rPr dirty="0" sz="2600" spc="-25"/>
              <a:t>the </a:t>
            </a:r>
            <a:r>
              <a:rPr dirty="0" sz="2600" spc="-50"/>
              <a:t>foundation,</a:t>
            </a:r>
            <a:r>
              <a:rPr dirty="0" sz="2600" spc="-90"/>
              <a:t> </a:t>
            </a:r>
            <a:r>
              <a:rPr dirty="0" sz="2600" spc="-120"/>
              <a:t>data</a:t>
            </a:r>
            <a:r>
              <a:rPr dirty="0" sz="2600" spc="-15"/>
              <a:t> </a:t>
            </a:r>
            <a:r>
              <a:rPr dirty="0" sz="2600" spc="-100"/>
              <a:t>sources</a:t>
            </a:r>
            <a:r>
              <a:rPr dirty="0" sz="2600" spc="-15"/>
              <a:t> </a:t>
            </a:r>
            <a:r>
              <a:rPr dirty="0" sz="2600" spc="-65"/>
              <a:t>such</a:t>
            </a:r>
            <a:r>
              <a:rPr dirty="0" sz="2600" spc="-10"/>
              <a:t> </a:t>
            </a:r>
            <a:r>
              <a:rPr dirty="0" sz="2600" spc="-220"/>
              <a:t>as</a:t>
            </a:r>
            <a:r>
              <a:rPr dirty="0" sz="2600" spc="60"/>
              <a:t> </a:t>
            </a:r>
            <a:r>
              <a:rPr dirty="0" sz="2600"/>
              <a:t>in-</a:t>
            </a:r>
            <a:r>
              <a:rPr dirty="0" sz="2600" spc="-80"/>
              <a:t>store</a:t>
            </a:r>
            <a:r>
              <a:rPr dirty="0" sz="2600" spc="-10"/>
              <a:t> </a:t>
            </a:r>
            <a:r>
              <a:rPr dirty="0" sz="2600" spc="-110"/>
              <a:t>cameras,</a:t>
            </a:r>
            <a:r>
              <a:rPr dirty="0" sz="2600" spc="-15"/>
              <a:t> </a:t>
            </a:r>
            <a:r>
              <a:rPr dirty="0" sz="2600"/>
              <a:t>POS</a:t>
            </a:r>
            <a:r>
              <a:rPr dirty="0" sz="2600" spc="-10"/>
              <a:t> </a:t>
            </a:r>
            <a:r>
              <a:rPr dirty="0" sz="2600" spc="-114"/>
              <a:t>systems,</a:t>
            </a:r>
            <a:r>
              <a:rPr dirty="0" sz="2600" spc="-15"/>
              <a:t> </a:t>
            </a:r>
            <a:r>
              <a:rPr dirty="0" sz="2600" spc="110"/>
              <a:t>CRM</a:t>
            </a:r>
            <a:r>
              <a:rPr dirty="0" sz="2600" spc="-15"/>
              <a:t> </a:t>
            </a:r>
            <a:r>
              <a:rPr dirty="0" sz="2600" spc="-100"/>
              <a:t>platforms,</a:t>
            </a:r>
            <a:r>
              <a:rPr dirty="0" sz="2600" spc="-10"/>
              <a:t> </a:t>
            </a:r>
            <a:r>
              <a:rPr dirty="0" sz="2600" spc="-65"/>
              <a:t>and</a:t>
            </a:r>
            <a:r>
              <a:rPr dirty="0" sz="2600" spc="-15"/>
              <a:t> </a:t>
            </a:r>
            <a:r>
              <a:rPr dirty="0" sz="2600" spc="-10"/>
              <a:t>cloud</a:t>
            </a:r>
            <a:r>
              <a:rPr dirty="0" sz="2600" spc="-15"/>
              <a:t> </a:t>
            </a:r>
            <a:r>
              <a:rPr dirty="0" sz="2600" spc="-70"/>
              <a:t>storage</a:t>
            </a:r>
            <a:r>
              <a:rPr dirty="0" sz="2600" spc="-10"/>
              <a:t> </a:t>
            </a:r>
            <a:r>
              <a:rPr dirty="0" sz="2600" spc="-40"/>
              <a:t>feed</a:t>
            </a:r>
            <a:r>
              <a:rPr dirty="0" sz="2600" spc="-15"/>
              <a:t> </a:t>
            </a:r>
            <a:r>
              <a:rPr dirty="0" sz="2600" spc="-10"/>
              <a:t>information </a:t>
            </a:r>
            <a:r>
              <a:rPr dirty="0" sz="2600"/>
              <a:t>into</a:t>
            </a:r>
            <a:r>
              <a:rPr dirty="0" sz="2600" spc="-125"/>
              <a:t> </a:t>
            </a:r>
            <a:r>
              <a:rPr dirty="0" sz="2600" spc="-10"/>
              <a:t>the</a:t>
            </a:r>
            <a:r>
              <a:rPr dirty="0" sz="2600" spc="-65"/>
              <a:t> </a:t>
            </a:r>
            <a:r>
              <a:rPr dirty="0" sz="2600" spc="-90"/>
              <a:t>system.</a:t>
            </a:r>
            <a:r>
              <a:rPr dirty="0" sz="2600" spc="-65"/>
              <a:t> </a:t>
            </a:r>
            <a:r>
              <a:rPr dirty="0" sz="2600"/>
              <a:t>This</a:t>
            </a:r>
            <a:r>
              <a:rPr dirty="0" sz="2600" spc="-65"/>
              <a:t> </a:t>
            </a:r>
            <a:r>
              <a:rPr dirty="0" sz="2600" spc="-120"/>
              <a:t>data</a:t>
            </a:r>
            <a:r>
              <a:rPr dirty="0" sz="2600" spc="-35"/>
              <a:t> </a:t>
            </a:r>
            <a:r>
              <a:rPr dirty="0" sz="2600" spc="-65"/>
              <a:t>is </a:t>
            </a:r>
            <a:r>
              <a:rPr dirty="0" sz="2600" spc="-105"/>
              <a:t>processed</a:t>
            </a:r>
            <a:r>
              <a:rPr dirty="0" sz="2600" spc="-55"/>
              <a:t> </a:t>
            </a:r>
            <a:r>
              <a:rPr dirty="0" sz="2600" spc="-20"/>
              <a:t>through</a:t>
            </a:r>
            <a:r>
              <a:rPr dirty="0" sz="2600" spc="-60"/>
              <a:t> </a:t>
            </a:r>
            <a:r>
              <a:rPr dirty="0" sz="2600"/>
              <a:t>a</a:t>
            </a:r>
            <a:r>
              <a:rPr dirty="0" sz="2600" spc="-65"/>
              <a:t> </a:t>
            </a:r>
            <a:r>
              <a:rPr dirty="0" sz="2600" spc="-70"/>
              <a:t>microservices</a:t>
            </a:r>
            <a:r>
              <a:rPr dirty="0" sz="2600" spc="-65"/>
              <a:t> </a:t>
            </a:r>
            <a:r>
              <a:rPr dirty="0" sz="2600" spc="-45"/>
              <a:t>layer</a:t>
            </a:r>
            <a:r>
              <a:rPr dirty="0" sz="2600" spc="-65"/>
              <a:t> </a:t>
            </a:r>
            <a:r>
              <a:rPr dirty="0" sz="2600" spc="-70"/>
              <a:t>that</a:t>
            </a:r>
            <a:r>
              <a:rPr dirty="0" sz="2600" spc="-65"/>
              <a:t> </a:t>
            </a:r>
            <a:r>
              <a:rPr dirty="0" sz="2600" spc="-110"/>
              <a:t>handles</a:t>
            </a:r>
            <a:r>
              <a:rPr dirty="0" sz="2600" spc="-45"/>
              <a:t> </a:t>
            </a:r>
            <a:r>
              <a:rPr dirty="0" sz="2600" spc="-90"/>
              <a:t>shopper</a:t>
            </a:r>
            <a:r>
              <a:rPr dirty="0" sz="2600" spc="-65"/>
              <a:t> </a:t>
            </a:r>
            <a:r>
              <a:rPr dirty="0" sz="2600" spc="-40"/>
              <a:t>detection,</a:t>
            </a:r>
            <a:r>
              <a:rPr dirty="0" sz="2600" spc="-65"/>
              <a:t> </a:t>
            </a:r>
            <a:r>
              <a:rPr dirty="0" sz="2600" spc="-25"/>
              <a:t>tracking,</a:t>
            </a:r>
            <a:r>
              <a:rPr dirty="0" sz="2600" spc="-65"/>
              <a:t> </a:t>
            </a:r>
            <a:r>
              <a:rPr dirty="0" sz="2600" spc="-10"/>
              <a:t>attention </a:t>
            </a:r>
            <a:r>
              <a:rPr dirty="0" sz="2600" spc="-105"/>
              <a:t>analysis,</a:t>
            </a:r>
            <a:r>
              <a:rPr dirty="0" sz="2600" spc="-55"/>
              <a:t> </a:t>
            </a:r>
            <a:r>
              <a:rPr dirty="0" sz="2600" spc="-65"/>
              <a:t>and</a:t>
            </a:r>
            <a:r>
              <a:rPr dirty="0" sz="2600" spc="-90"/>
              <a:t> </a:t>
            </a:r>
            <a:r>
              <a:rPr dirty="0" sz="2600" spc="-45"/>
              <a:t>product</a:t>
            </a:r>
            <a:r>
              <a:rPr dirty="0" sz="2600" spc="-60"/>
              <a:t> </a:t>
            </a:r>
            <a:r>
              <a:rPr dirty="0" sz="2600" spc="-55"/>
              <a:t>interaction,</a:t>
            </a:r>
            <a:r>
              <a:rPr dirty="0" sz="2600" spc="-60"/>
              <a:t> ensuring</a:t>
            </a:r>
            <a:r>
              <a:rPr dirty="0" sz="2600" spc="-55"/>
              <a:t> </a:t>
            </a:r>
            <a:r>
              <a:rPr dirty="0" sz="2600" spc="-45"/>
              <a:t>each</a:t>
            </a:r>
            <a:r>
              <a:rPr dirty="0" sz="2600" spc="-60"/>
              <a:t> </a:t>
            </a:r>
            <a:r>
              <a:rPr dirty="0" sz="2600" spc="-25"/>
              <a:t>function</a:t>
            </a:r>
            <a:r>
              <a:rPr dirty="0" sz="2600" spc="-60"/>
              <a:t> </a:t>
            </a:r>
            <a:r>
              <a:rPr dirty="0" sz="2600" spc="-105"/>
              <a:t>operates</a:t>
            </a:r>
            <a:r>
              <a:rPr dirty="0" sz="2600" spc="-50"/>
              <a:t> </a:t>
            </a:r>
            <a:r>
              <a:rPr dirty="0" sz="2600" spc="-60"/>
              <a:t>independently </a:t>
            </a:r>
            <a:r>
              <a:rPr dirty="0" sz="2600"/>
              <a:t>for</a:t>
            </a:r>
            <a:r>
              <a:rPr dirty="0" sz="2600" spc="-55"/>
              <a:t> </a:t>
            </a:r>
            <a:r>
              <a:rPr dirty="0" sz="2600" spc="-70"/>
              <a:t>easy</a:t>
            </a:r>
            <a:r>
              <a:rPr dirty="0" sz="2600" spc="-60"/>
              <a:t> </a:t>
            </a:r>
            <a:r>
              <a:rPr dirty="0" sz="2600" spc="-120"/>
              <a:t>updates</a:t>
            </a:r>
            <a:r>
              <a:rPr dirty="0" sz="2600" spc="-35"/>
              <a:t> </a:t>
            </a:r>
            <a:r>
              <a:rPr dirty="0" sz="2600" spc="-65"/>
              <a:t>and</a:t>
            </a:r>
            <a:r>
              <a:rPr dirty="0" sz="2600" spc="-60"/>
              <a:t> </a:t>
            </a:r>
            <a:r>
              <a:rPr dirty="0" sz="2600" spc="-70"/>
              <a:t>scalability.</a:t>
            </a:r>
            <a:r>
              <a:rPr dirty="0" sz="2600" spc="-55"/>
              <a:t> </a:t>
            </a:r>
            <a:r>
              <a:rPr dirty="0" sz="2600" spc="-25"/>
              <a:t>The </a:t>
            </a:r>
            <a:r>
              <a:rPr dirty="0" sz="2600" spc="-105"/>
              <a:t>processed</a:t>
            </a:r>
            <a:r>
              <a:rPr dirty="0" sz="2600" spc="-55"/>
              <a:t> information</a:t>
            </a:r>
            <a:r>
              <a:rPr dirty="0" sz="2600" spc="-100"/>
              <a:t> </a:t>
            </a:r>
            <a:r>
              <a:rPr dirty="0" sz="2600" spc="-10"/>
              <a:t>flows</a:t>
            </a:r>
            <a:r>
              <a:rPr dirty="0" sz="2600" spc="-105"/>
              <a:t> </a:t>
            </a:r>
            <a:r>
              <a:rPr dirty="0" sz="2600"/>
              <a:t>into</a:t>
            </a:r>
            <a:r>
              <a:rPr dirty="0" sz="2600" spc="-70"/>
              <a:t> </a:t>
            </a:r>
            <a:r>
              <a:rPr dirty="0" sz="2600" spc="-10"/>
              <a:t>the</a:t>
            </a:r>
            <a:r>
              <a:rPr dirty="0" sz="2600" spc="-70"/>
              <a:t> </a:t>
            </a:r>
            <a:r>
              <a:rPr dirty="0" sz="2600" spc="-80"/>
              <a:t>analytics</a:t>
            </a:r>
            <a:r>
              <a:rPr dirty="0" sz="2600" spc="-70"/>
              <a:t> </a:t>
            </a:r>
            <a:r>
              <a:rPr dirty="0" sz="2600" spc="-40"/>
              <a:t>layer,</a:t>
            </a:r>
            <a:r>
              <a:rPr dirty="0" sz="2600" spc="-70"/>
              <a:t> </a:t>
            </a:r>
            <a:r>
              <a:rPr dirty="0" sz="2600"/>
              <a:t>where</a:t>
            </a:r>
            <a:r>
              <a:rPr dirty="0" sz="2600" spc="-70"/>
              <a:t> </a:t>
            </a:r>
            <a:r>
              <a:rPr dirty="0" sz="2600" spc="-120"/>
              <a:t>heatmaps,</a:t>
            </a:r>
            <a:r>
              <a:rPr dirty="0" sz="2600" spc="-35"/>
              <a:t> </a:t>
            </a:r>
            <a:r>
              <a:rPr dirty="0" sz="2600" spc="-100"/>
              <a:t>attractiveness</a:t>
            </a:r>
            <a:r>
              <a:rPr dirty="0" sz="2600" spc="-60"/>
              <a:t> </a:t>
            </a:r>
            <a:r>
              <a:rPr dirty="0" sz="2600" spc="-25"/>
              <a:t>scoring,</a:t>
            </a:r>
            <a:r>
              <a:rPr dirty="0" sz="2600" spc="-70"/>
              <a:t> </a:t>
            </a:r>
            <a:r>
              <a:rPr dirty="0" sz="2600" spc="-65"/>
              <a:t>and</a:t>
            </a:r>
            <a:r>
              <a:rPr dirty="0" sz="2600" spc="-70"/>
              <a:t> </a:t>
            </a:r>
            <a:r>
              <a:rPr dirty="0" sz="2600" spc="-10"/>
              <a:t>optimization </a:t>
            </a:r>
            <a:r>
              <a:rPr dirty="0" sz="2600" spc="-75"/>
              <a:t>recommendations</a:t>
            </a:r>
            <a:r>
              <a:rPr dirty="0" sz="2600" spc="-60"/>
              <a:t> </a:t>
            </a:r>
            <a:r>
              <a:rPr dirty="0" sz="2600" spc="-85"/>
              <a:t>are</a:t>
            </a:r>
            <a:r>
              <a:rPr dirty="0" sz="2600" spc="-55"/>
              <a:t> </a:t>
            </a:r>
            <a:r>
              <a:rPr dirty="0" sz="2600" spc="-60"/>
              <a:t>generated </a:t>
            </a:r>
            <a:r>
              <a:rPr dirty="0" sz="2600"/>
              <a:t>to</a:t>
            </a:r>
            <a:r>
              <a:rPr dirty="0" sz="2600" spc="-55"/>
              <a:t> </a:t>
            </a:r>
            <a:r>
              <a:rPr dirty="0" sz="2600" spc="-35"/>
              <a:t>provide</a:t>
            </a:r>
            <a:r>
              <a:rPr dirty="0" sz="2600" spc="-60"/>
              <a:t> </a:t>
            </a:r>
            <a:r>
              <a:rPr dirty="0" sz="2600" spc="-70"/>
              <a:t>actionable</a:t>
            </a:r>
            <a:r>
              <a:rPr dirty="0" sz="2600" spc="-55"/>
              <a:t> </a:t>
            </a:r>
            <a:r>
              <a:rPr dirty="0" sz="2600" spc="-65"/>
              <a:t>insights.</a:t>
            </a:r>
            <a:r>
              <a:rPr dirty="0" sz="2600" spc="-55"/>
              <a:t> </a:t>
            </a:r>
            <a:r>
              <a:rPr dirty="0" sz="2600" spc="-40"/>
              <a:t>Finally,</a:t>
            </a:r>
            <a:r>
              <a:rPr dirty="0" sz="2600" spc="-60"/>
              <a:t> </a:t>
            </a:r>
            <a:r>
              <a:rPr dirty="0" sz="2600" spc="-95"/>
              <a:t>these</a:t>
            </a:r>
            <a:r>
              <a:rPr dirty="0" sz="2600" spc="-55"/>
              <a:t> </a:t>
            </a:r>
            <a:r>
              <a:rPr dirty="0" sz="2600" spc="-75"/>
              <a:t>insights</a:t>
            </a:r>
            <a:r>
              <a:rPr dirty="0" sz="2600" spc="-60"/>
              <a:t> </a:t>
            </a:r>
            <a:r>
              <a:rPr dirty="0" sz="2600" spc="-85"/>
              <a:t>are</a:t>
            </a:r>
            <a:r>
              <a:rPr dirty="0" sz="2600" spc="-55"/>
              <a:t> </a:t>
            </a:r>
            <a:r>
              <a:rPr dirty="0" sz="2600" spc="-60"/>
              <a:t>delivered</a:t>
            </a:r>
            <a:r>
              <a:rPr dirty="0" sz="2600" spc="-55"/>
              <a:t> </a:t>
            </a:r>
            <a:r>
              <a:rPr dirty="0" sz="2600" spc="-20"/>
              <a:t>through</a:t>
            </a:r>
            <a:r>
              <a:rPr dirty="0" sz="2600" spc="-60"/>
              <a:t> </a:t>
            </a:r>
            <a:r>
              <a:rPr dirty="0" sz="2600" spc="-10"/>
              <a:t>intuitive </a:t>
            </a:r>
            <a:r>
              <a:rPr dirty="0" sz="2600" spc="-135"/>
              <a:t>dashboards</a:t>
            </a:r>
            <a:r>
              <a:rPr dirty="0" sz="2600" spc="-25"/>
              <a:t> </a:t>
            </a:r>
            <a:r>
              <a:rPr dirty="0" sz="2600" spc="-75"/>
              <a:t>tailored</a:t>
            </a:r>
            <a:r>
              <a:rPr dirty="0" sz="2600" spc="-70"/>
              <a:t> </a:t>
            </a:r>
            <a:r>
              <a:rPr dirty="0" sz="2600"/>
              <a:t>for</a:t>
            </a:r>
            <a:r>
              <a:rPr dirty="0" sz="2600" spc="-45"/>
              <a:t> </a:t>
            </a:r>
            <a:r>
              <a:rPr dirty="0" sz="2600" spc="-60"/>
              <a:t>different</a:t>
            </a:r>
            <a:r>
              <a:rPr dirty="0" sz="2600" spc="-45"/>
              <a:t> </a:t>
            </a:r>
            <a:r>
              <a:rPr dirty="0" sz="2600" spc="-80"/>
              <a:t>roles</a:t>
            </a:r>
            <a:r>
              <a:rPr dirty="0" sz="2600" spc="-50"/>
              <a:t> </a:t>
            </a:r>
            <a:r>
              <a:rPr dirty="0" sz="2600"/>
              <a:t>—</a:t>
            </a:r>
            <a:r>
              <a:rPr dirty="0" sz="2600" spc="-45"/>
              <a:t> </a:t>
            </a:r>
            <a:r>
              <a:rPr dirty="0" sz="2600" spc="-60"/>
              <a:t>Store</a:t>
            </a:r>
            <a:r>
              <a:rPr dirty="0" sz="2600" spc="-45"/>
              <a:t> </a:t>
            </a:r>
            <a:r>
              <a:rPr dirty="0" sz="2600" spc="-70"/>
              <a:t>Managers,</a:t>
            </a:r>
            <a:r>
              <a:rPr dirty="0" sz="2600" spc="-45"/>
              <a:t> </a:t>
            </a:r>
            <a:r>
              <a:rPr dirty="0" sz="2600" spc="-55"/>
              <a:t>Retail</a:t>
            </a:r>
            <a:r>
              <a:rPr dirty="0" sz="2600" spc="-50"/>
              <a:t> </a:t>
            </a:r>
            <a:r>
              <a:rPr dirty="0" sz="2600" spc="-80"/>
              <a:t>Analysts,</a:t>
            </a:r>
            <a:r>
              <a:rPr dirty="0" sz="2600" spc="-45"/>
              <a:t> </a:t>
            </a:r>
            <a:r>
              <a:rPr dirty="0" sz="2600" spc="-25"/>
              <a:t>Marketing</a:t>
            </a:r>
            <a:r>
              <a:rPr dirty="0" sz="2600" spc="-45"/>
              <a:t> </a:t>
            </a:r>
            <a:r>
              <a:rPr dirty="0" sz="2600" spc="-70"/>
              <a:t>Managers,</a:t>
            </a:r>
            <a:r>
              <a:rPr dirty="0" sz="2600" spc="-45"/>
              <a:t> </a:t>
            </a:r>
            <a:r>
              <a:rPr dirty="0" sz="2600" spc="-65"/>
              <a:t>and</a:t>
            </a:r>
            <a:r>
              <a:rPr dirty="0" sz="2600" spc="-45"/>
              <a:t> </a:t>
            </a:r>
            <a:r>
              <a:rPr dirty="0" sz="2600" spc="-90"/>
              <a:t>Administrators</a:t>
            </a:r>
            <a:r>
              <a:rPr dirty="0" sz="2600" spc="-50"/>
              <a:t> — </a:t>
            </a:r>
            <a:r>
              <a:rPr dirty="0" sz="2600" spc="-35"/>
              <a:t>enabling</a:t>
            </a:r>
            <a:r>
              <a:rPr dirty="0" sz="2600" spc="-60"/>
              <a:t> </a:t>
            </a:r>
            <a:r>
              <a:rPr dirty="0" sz="2600" spc="-45"/>
              <a:t>each</a:t>
            </a:r>
            <a:r>
              <a:rPr dirty="0" sz="2600" spc="-50"/>
              <a:t> </a:t>
            </a:r>
            <a:r>
              <a:rPr dirty="0" sz="2600" spc="-85"/>
              <a:t>stakeholder</a:t>
            </a:r>
            <a:r>
              <a:rPr dirty="0" sz="2600" spc="-50"/>
              <a:t> </a:t>
            </a:r>
            <a:r>
              <a:rPr dirty="0" sz="2600"/>
              <a:t>to</a:t>
            </a:r>
            <a:r>
              <a:rPr dirty="0" sz="2600" spc="-50"/>
              <a:t> </a:t>
            </a:r>
            <a:r>
              <a:rPr dirty="0" sz="2600" spc="-30"/>
              <a:t>monitor</a:t>
            </a:r>
            <a:r>
              <a:rPr dirty="0" sz="2600" spc="-50"/>
              <a:t> </a:t>
            </a:r>
            <a:r>
              <a:rPr dirty="0" sz="2600" spc="-75"/>
              <a:t>performance,</a:t>
            </a:r>
            <a:r>
              <a:rPr dirty="0" sz="2600" spc="-50"/>
              <a:t> </a:t>
            </a:r>
            <a:r>
              <a:rPr dirty="0" sz="2600" spc="-110"/>
              <a:t>understand</a:t>
            </a:r>
            <a:r>
              <a:rPr dirty="0" sz="2600" spc="-45"/>
              <a:t> </a:t>
            </a:r>
            <a:r>
              <a:rPr dirty="0" sz="2600" spc="-75"/>
              <a:t>consumer</a:t>
            </a:r>
            <a:r>
              <a:rPr dirty="0" sz="2600" spc="-55"/>
              <a:t> </a:t>
            </a:r>
            <a:r>
              <a:rPr dirty="0" sz="2600" spc="-45"/>
              <a:t>behavior,</a:t>
            </a:r>
            <a:r>
              <a:rPr dirty="0" sz="2600" spc="-50"/>
              <a:t> </a:t>
            </a:r>
            <a:r>
              <a:rPr dirty="0" sz="2600" spc="-65"/>
              <a:t>and</a:t>
            </a:r>
            <a:r>
              <a:rPr dirty="0" sz="2600" spc="-50"/>
              <a:t> make </a:t>
            </a:r>
            <a:r>
              <a:rPr dirty="0" sz="2600" spc="-85"/>
              <a:t>data-</a:t>
            </a:r>
            <a:r>
              <a:rPr dirty="0" sz="2600" spc="-35"/>
              <a:t>driven</a:t>
            </a:r>
            <a:r>
              <a:rPr dirty="0" sz="2600" spc="-50"/>
              <a:t> </a:t>
            </a:r>
            <a:r>
              <a:rPr dirty="0" sz="2600" spc="-85"/>
              <a:t>decisions</a:t>
            </a:r>
            <a:r>
              <a:rPr dirty="0" sz="2600" spc="-50"/>
              <a:t> </a:t>
            </a:r>
            <a:r>
              <a:rPr dirty="0" sz="2600" spc="-25"/>
              <a:t>in </a:t>
            </a:r>
            <a:r>
              <a:rPr dirty="0" sz="2600" spc="-85"/>
              <a:t>real</a:t>
            </a:r>
            <a:r>
              <a:rPr dirty="0" sz="2600" spc="-70"/>
              <a:t> </a:t>
            </a:r>
            <a:r>
              <a:rPr dirty="0" sz="2600" spc="-20"/>
              <a:t>time.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3757" rIns="0" bIns="0" rtlCol="0" vert="horz">
            <a:spAutoFit/>
          </a:bodyPr>
          <a:lstStyle/>
          <a:p>
            <a:pPr marL="2533650">
              <a:lnSpc>
                <a:spcPct val="100000"/>
              </a:lnSpc>
              <a:spcBef>
                <a:spcPts val="135"/>
              </a:spcBef>
            </a:pPr>
            <a:r>
              <a:rPr dirty="0" sz="6700" spc="645"/>
              <a:t>Challenges</a:t>
            </a:r>
            <a:r>
              <a:rPr dirty="0" sz="6700" spc="-254"/>
              <a:t> </a:t>
            </a:r>
            <a:r>
              <a:rPr dirty="0" sz="6700" spc="710"/>
              <a:t>&amp;</a:t>
            </a:r>
            <a:r>
              <a:rPr dirty="0" sz="6700" spc="-254"/>
              <a:t> </a:t>
            </a:r>
            <a:r>
              <a:rPr dirty="0" sz="6700" spc="720"/>
              <a:t>Solutions</a:t>
            </a:r>
            <a:endParaRPr sz="6700"/>
          </a:p>
        </p:txBody>
      </p:sp>
      <p:sp>
        <p:nvSpPr>
          <p:cNvPr id="3" name="object 3"/>
          <p:cNvSpPr txBox="1"/>
          <p:nvPr/>
        </p:nvSpPr>
        <p:spPr>
          <a:xfrm>
            <a:off x="3084719" y="3661055"/>
            <a:ext cx="11877040" cy="37592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 marR="174625">
              <a:lnSpc>
                <a:spcPct val="100000"/>
              </a:lnSpc>
              <a:spcBef>
                <a:spcPts val="645"/>
              </a:spcBef>
            </a:pPr>
            <a:r>
              <a:rPr dirty="0" sz="2600" spc="-10" b="1">
                <a:latin typeface="Consolas"/>
                <a:cs typeface="Consolas"/>
              </a:rPr>
              <a:t>Scalability:</a:t>
            </a:r>
            <a:endParaRPr sz="26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  <a:tabLst>
                <a:tab pos="4538980" algn="l"/>
              </a:tabLst>
            </a:pPr>
            <a:r>
              <a:rPr dirty="0" sz="2600">
                <a:latin typeface="Consolas"/>
                <a:cs typeface="Consolas"/>
              </a:rPr>
              <a:t>Modular</a:t>
            </a:r>
            <a:r>
              <a:rPr dirty="0" sz="2600" spc="90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microservices</a:t>
            </a:r>
            <a:r>
              <a:rPr dirty="0" sz="2600" spc="105">
                <a:latin typeface="Consolas"/>
                <a:cs typeface="Consolas"/>
              </a:rPr>
              <a:t> </a:t>
            </a:r>
            <a:r>
              <a:rPr dirty="0" sz="1200" spc="1600">
                <a:latin typeface="Lucida Sans Unicode"/>
                <a:cs typeface="Lucida Sans Unicode"/>
              </a:rPr>
              <a:t>→</a:t>
            </a:r>
            <a:r>
              <a:rPr dirty="0" sz="1200">
                <a:latin typeface="Lucida Sans Unicode"/>
                <a:cs typeface="Lucida Sans Unicode"/>
              </a:rPr>
              <a:t>	</a:t>
            </a:r>
            <a:r>
              <a:rPr dirty="0" sz="2600">
                <a:latin typeface="Consolas"/>
                <a:cs typeface="Consolas"/>
              </a:rPr>
              <a:t>seamless</a:t>
            </a:r>
            <a:r>
              <a:rPr dirty="0" sz="2600" spc="80">
                <a:latin typeface="Consolas"/>
                <a:cs typeface="Consolas"/>
              </a:rPr>
              <a:t> </a:t>
            </a:r>
            <a:r>
              <a:rPr dirty="0" sz="2600" spc="-10">
                <a:latin typeface="Consolas"/>
                <a:cs typeface="Consolas"/>
              </a:rPr>
              <a:t>growth</a:t>
            </a:r>
            <a:endParaRPr sz="2600">
              <a:latin typeface="Consolas"/>
              <a:cs typeface="Consolas"/>
            </a:endParaRPr>
          </a:p>
          <a:p>
            <a:pPr algn="ctr" marR="174625">
              <a:lnSpc>
                <a:spcPct val="100000"/>
              </a:lnSpc>
              <a:spcBef>
                <a:spcPts val="555"/>
              </a:spcBef>
            </a:pPr>
            <a:r>
              <a:rPr dirty="0" sz="2600" spc="-10" b="1">
                <a:latin typeface="Consolas"/>
                <a:cs typeface="Consolas"/>
              </a:rPr>
              <a:t>Security:</a:t>
            </a:r>
            <a:endParaRPr sz="26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  <a:tabLst>
                <a:tab pos="4904740" algn="l"/>
              </a:tabLst>
            </a:pPr>
            <a:r>
              <a:rPr dirty="0" sz="2600">
                <a:latin typeface="Consolas"/>
                <a:cs typeface="Consolas"/>
              </a:rPr>
              <a:t>JWT,</a:t>
            </a:r>
            <a:r>
              <a:rPr dirty="0" sz="2600" spc="70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OAuth2,</a:t>
            </a:r>
            <a:r>
              <a:rPr dirty="0" sz="2600" spc="75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encryption</a:t>
            </a:r>
            <a:r>
              <a:rPr dirty="0" sz="2600" spc="75">
                <a:latin typeface="Consolas"/>
                <a:cs typeface="Consolas"/>
              </a:rPr>
              <a:t> </a:t>
            </a:r>
            <a:r>
              <a:rPr dirty="0" sz="1200" spc="1600">
                <a:latin typeface="Lucida Sans Unicode"/>
                <a:cs typeface="Lucida Sans Unicode"/>
              </a:rPr>
              <a:t>→</a:t>
            </a:r>
            <a:r>
              <a:rPr dirty="0" sz="1200">
                <a:latin typeface="Lucida Sans Unicode"/>
                <a:cs typeface="Lucida Sans Unicode"/>
              </a:rPr>
              <a:t>	</a:t>
            </a:r>
            <a:r>
              <a:rPr dirty="0" sz="2600">
                <a:latin typeface="Consolas"/>
                <a:cs typeface="Consolas"/>
              </a:rPr>
              <a:t>safe</a:t>
            </a:r>
            <a:r>
              <a:rPr dirty="0" sz="2600" spc="45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data</a:t>
            </a:r>
            <a:r>
              <a:rPr dirty="0" sz="2600" spc="45">
                <a:latin typeface="Consolas"/>
                <a:cs typeface="Consolas"/>
              </a:rPr>
              <a:t> </a:t>
            </a:r>
            <a:r>
              <a:rPr dirty="0" sz="2600" spc="-10">
                <a:latin typeface="Consolas"/>
                <a:cs typeface="Consolas"/>
              </a:rPr>
              <a:t>handling</a:t>
            </a:r>
            <a:endParaRPr sz="2600">
              <a:latin typeface="Consolas"/>
              <a:cs typeface="Consolas"/>
            </a:endParaRPr>
          </a:p>
          <a:p>
            <a:pPr algn="ctr" marR="174625">
              <a:lnSpc>
                <a:spcPct val="100000"/>
              </a:lnSpc>
              <a:spcBef>
                <a:spcPts val="555"/>
              </a:spcBef>
            </a:pPr>
            <a:r>
              <a:rPr dirty="0" sz="2600" spc="-10" b="1">
                <a:latin typeface="Consolas"/>
                <a:cs typeface="Consolas"/>
              </a:rPr>
              <a:t>Engagement:</a:t>
            </a:r>
            <a:endParaRPr sz="26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  <a:tabLst>
                <a:tab pos="4356100" algn="l"/>
              </a:tabLst>
            </a:pPr>
            <a:r>
              <a:rPr dirty="0" sz="2600">
                <a:latin typeface="Consolas"/>
                <a:cs typeface="Consolas"/>
              </a:rPr>
              <a:t>Real-time</a:t>
            </a:r>
            <a:r>
              <a:rPr dirty="0" sz="2600" spc="95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dashboards</a:t>
            </a:r>
            <a:r>
              <a:rPr dirty="0" sz="2600" spc="100">
                <a:latin typeface="Consolas"/>
                <a:cs typeface="Consolas"/>
              </a:rPr>
              <a:t> </a:t>
            </a:r>
            <a:r>
              <a:rPr dirty="0" sz="1200" spc="1600">
                <a:latin typeface="Lucida Sans Unicode"/>
                <a:cs typeface="Lucida Sans Unicode"/>
              </a:rPr>
              <a:t>→</a:t>
            </a:r>
            <a:r>
              <a:rPr dirty="0" sz="1200">
                <a:latin typeface="Lucida Sans Unicode"/>
                <a:cs typeface="Lucida Sans Unicode"/>
              </a:rPr>
              <a:t>	</a:t>
            </a:r>
            <a:r>
              <a:rPr dirty="0" sz="2600">
                <a:latin typeface="Consolas"/>
                <a:cs typeface="Consolas"/>
              </a:rPr>
              <a:t>actionable</a:t>
            </a:r>
            <a:r>
              <a:rPr dirty="0" sz="2600" spc="100">
                <a:latin typeface="Consolas"/>
                <a:cs typeface="Consolas"/>
              </a:rPr>
              <a:t> </a:t>
            </a:r>
            <a:r>
              <a:rPr dirty="0" sz="2600" spc="-10">
                <a:latin typeface="Consolas"/>
                <a:cs typeface="Consolas"/>
              </a:rPr>
              <a:t>insights</a:t>
            </a:r>
            <a:endParaRPr sz="2600">
              <a:latin typeface="Consolas"/>
              <a:cs typeface="Consolas"/>
            </a:endParaRPr>
          </a:p>
          <a:p>
            <a:pPr algn="ctr" marR="174625">
              <a:lnSpc>
                <a:spcPct val="100000"/>
              </a:lnSpc>
              <a:spcBef>
                <a:spcPts val="555"/>
              </a:spcBef>
            </a:pPr>
            <a:r>
              <a:rPr dirty="0" sz="2600" spc="-10" b="1">
                <a:latin typeface="Consolas"/>
                <a:cs typeface="Consolas"/>
              </a:rPr>
              <a:t>Integration:</a:t>
            </a:r>
            <a:endParaRPr sz="26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  <a:tabLst>
                <a:tab pos="7646670" algn="l"/>
              </a:tabLst>
            </a:pPr>
            <a:r>
              <a:rPr dirty="0" sz="2600">
                <a:latin typeface="Consolas"/>
                <a:cs typeface="Consolas"/>
              </a:rPr>
              <a:t>APIs</a:t>
            </a:r>
            <a:r>
              <a:rPr dirty="0" sz="2600" spc="60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for</a:t>
            </a:r>
            <a:r>
              <a:rPr dirty="0" sz="2600" spc="60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POS,</a:t>
            </a:r>
            <a:r>
              <a:rPr dirty="0" sz="2600" spc="60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CRM,</a:t>
            </a:r>
            <a:r>
              <a:rPr dirty="0" sz="2600" spc="60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marketing</a:t>
            </a:r>
            <a:r>
              <a:rPr dirty="0" sz="2600" spc="60">
                <a:latin typeface="Consolas"/>
                <a:cs typeface="Consolas"/>
              </a:rPr>
              <a:t> </a:t>
            </a:r>
            <a:r>
              <a:rPr dirty="0" sz="2600">
                <a:latin typeface="Consolas"/>
                <a:cs typeface="Consolas"/>
              </a:rPr>
              <a:t>platforms</a:t>
            </a:r>
            <a:r>
              <a:rPr dirty="0" sz="2600" spc="65">
                <a:latin typeface="Consolas"/>
                <a:cs typeface="Consolas"/>
              </a:rPr>
              <a:t> </a:t>
            </a:r>
            <a:r>
              <a:rPr dirty="0" sz="1200" spc="1600">
                <a:latin typeface="Lucida Sans Unicode"/>
                <a:cs typeface="Lucida Sans Unicode"/>
              </a:rPr>
              <a:t>→</a:t>
            </a:r>
            <a:r>
              <a:rPr dirty="0" sz="1200">
                <a:latin typeface="Lucida Sans Unicode"/>
                <a:cs typeface="Lucida Sans Unicode"/>
              </a:rPr>
              <a:t>	</a:t>
            </a:r>
            <a:r>
              <a:rPr dirty="0" sz="2600">
                <a:latin typeface="Consolas"/>
                <a:cs typeface="Consolas"/>
              </a:rPr>
              <a:t>smooth</a:t>
            </a:r>
            <a:r>
              <a:rPr dirty="0" sz="2600" spc="65">
                <a:latin typeface="Consolas"/>
                <a:cs typeface="Consolas"/>
              </a:rPr>
              <a:t> </a:t>
            </a:r>
            <a:r>
              <a:rPr dirty="0" sz="2600" spc="-10">
                <a:latin typeface="Consolas"/>
                <a:cs typeface="Consolas"/>
              </a:rPr>
              <a:t>interoperability</a:t>
            </a:r>
            <a:endParaRPr sz="2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392479"/>
            <a:ext cx="2518410" cy="894715"/>
            <a:chOff x="0" y="9392479"/>
            <a:chExt cx="2518410" cy="894715"/>
          </a:xfrm>
        </p:grpSpPr>
        <p:sp>
          <p:nvSpPr>
            <p:cNvPr id="3" name="object 3"/>
            <p:cNvSpPr/>
            <p:nvPr/>
          </p:nvSpPr>
          <p:spPr>
            <a:xfrm>
              <a:off x="0" y="9392479"/>
              <a:ext cx="2518410" cy="894715"/>
            </a:xfrm>
            <a:custGeom>
              <a:avLst/>
              <a:gdLst/>
              <a:ahLst/>
              <a:cxnLst/>
              <a:rect l="l" t="t" r="r" b="b"/>
              <a:pathLst>
                <a:path w="2518410" h="894715">
                  <a:moveTo>
                    <a:pt x="0" y="894520"/>
                  </a:moveTo>
                  <a:lnTo>
                    <a:pt x="2518222" y="894520"/>
                  </a:lnTo>
                  <a:lnTo>
                    <a:pt x="1698674" y="0"/>
                  </a:lnTo>
                  <a:lnTo>
                    <a:pt x="0" y="0"/>
                  </a:lnTo>
                  <a:lnTo>
                    <a:pt x="0" y="89452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392487"/>
              <a:ext cx="1652905" cy="894715"/>
            </a:xfrm>
            <a:custGeom>
              <a:avLst/>
              <a:gdLst/>
              <a:ahLst/>
              <a:cxnLst/>
              <a:rect l="l" t="t" r="r" b="b"/>
              <a:pathLst>
                <a:path w="1652905" h="894715">
                  <a:moveTo>
                    <a:pt x="787819" y="894524"/>
                  </a:moveTo>
                  <a:lnTo>
                    <a:pt x="0" y="34620"/>
                  </a:lnTo>
                  <a:lnTo>
                    <a:pt x="0" y="496646"/>
                  </a:lnTo>
                  <a:lnTo>
                    <a:pt x="363423" y="894524"/>
                  </a:lnTo>
                  <a:lnTo>
                    <a:pt x="787819" y="894524"/>
                  </a:lnTo>
                  <a:close/>
                </a:path>
                <a:path w="1652905" h="894715">
                  <a:moveTo>
                    <a:pt x="1652828" y="894511"/>
                  </a:moveTo>
                  <a:lnTo>
                    <a:pt x="833272" y="0"/>
                  </a:lnTo>
                  <a:lnTo>
                    <a:pt x="411797" y="0"/>
                  </a:lnTo>
                  <a:lnTo>
                    <a:pt x="1228686" y="894511"/>
                  </a:lnTo>
                  <a:lnTo>
                    <a:pt x="1652828" y="894511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3417570" cy="1695450"/>
            <a:chOff x="0" y="0"/>
            <a:chExt cx="3417570" cy="169545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894205" cy="1207770"/>
            </a:xfrm>
            <a:custGeom>
              <a:avLst/>
              <a:gdLst/>
              <a:ahLst/>
              <a:cxnLst/>
              <a:rect l="l" t="t" r="r" b="b"/>
              <a:pathLst>
                <a:path w="1894205" h="1207770">
                  <a:moveTo>
                    <a:pt x="787357" y="1207342"/>
                  </a:moveTo>
                  <a:lnTo>
                    <a:pt x="0" y="348074"/>
                  </a:lnTo>
                  <a:lnTo>
                    <a:pt x="0" y="0"/>
                  </a:lnTo>
                  <a:lnTo>
                    <a:pt x="1893584" y="0"/>
                  </a:lnTo>
                  <a:lnTo>
                    <a:pt x="787357" y="120734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1187450" cy="1204595"/>
            </a:xfrm>
            <a:custGeom>
              <a:avLst/>
              <a:gdLst/>
              <a:ahLst/>
              <a:cxnLst/>
              <a:rect l="l" t="t" r="r" b="b"/>
              <a:pathLst>
                <a:path w="1187450" h="1204595">
                  <a:moveTo>
                    <a:pt x="784738" y="1204320"/>
                  </a:moveTo>
                  <a:lnTo>
                    <a:pt x="0" y="348067"/>
                  </a:lnTo>
                  <a:lnTo>
                    <a:pt x="0" y="0"/>
                  </a:lnTo>
                  <a:lnTo>
                    <a:pt x="501430" y="0"/>
                  </a:lnTo>
                  <a:lnTo>
                    <a:pt x="1187063" y="765126"/>
                  </a:lnTo>
                  <a:lnTo>
                    <a:pt x="784738" y="1204320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2192020" cy="1695450"/>
            </a:xfrm>
            <a:custGeom>
              <a:avLst/>
              <a:gdLst/>
              <a:ahLst/>
              <a:cxnLst/>
              <a:rect l="l" t="t" r="r" b="b"/>
              <a:pathLst>
                <a:path w="2192020" h="1695450">
                  <a:moveTo>
                    <a:pt x="942509" y="1363679"/>
                  </a:moveTo>
                  <a:lnTo>
                    <a:pt x="638676" y="1363679"/>
                  </a:lnTo>
                  <a:lnTo>
                    <a:pt x="1892590" y="0"/>
                  </a:lnTo>
                  <a:lnTo>
                    <a:pt x="2191958" y="0"/>
                  </a:lnTo>
                  <a:lnTo>
                    <a:pt x="942509" y="1363679"/>
                  </a:lnTo>
                  <a:close/>
                </a:path>
                <a:path w="2192020" h="1695450">
                  <a:moveTo>
                    <a:pt x="638676" y="1695290"/>
                  </a:moveTo>
                  <a:lnTo>
                    <a:pt x="0" y="998396"/>
                  </a:lnTo>
                  <a:lnTo>
                    <a:pt x="0" y="666785"/>
                  </a:lnTo>
                  <a:lnTo>
                    <a:pt x="638676" y="1363679"/>
                  </a:lnTo>
                  <a:lnTo>
                    <a:pt x="942509" y="1363679"/>
                  </a:lnTo>
                  <a:lnTo>
                    <a:pt x="638676" y="169529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19151" y="0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1997928" y="843295"/>
                  </a:moveTo>
                  <a:lnTo>
                    <a:pt x="0" y="843295"/>
                  </a:lnTo>
                  <a:lnTo>
                    <a:pt x="772616" y="0"/>
                  </a:lnTo>
                  <a:lnTo>
                    <a:pt x="1997928" y="0"/>
                  </a:lnTo>
                  <a:lnTo>
                    <a:pt x="1997928" y="843295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19352" y="11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989253" y="0"/>
                  </a:moveTo>
                  <a:lnTo>
                    <a:pt x="772617" y="0"/>
                  </a:lnTo>
                  <a:lnTo>
                    <a:pt x="0" y="843292"/>
                  </a:lnTo>
                  <a:lnTo>
                    <a:pt x="218986" y="843292"/>
                  </a:lnTo>
                  <a:lnTo>
                    <a:pt x="989253" y="0"/>
                  </a:lnTo>
                  <a:close/>
                </a:path>
                <a:path w="1998345" h="843915">
                  <a:moveTo>
                    <a:pt x="1432077" y="0"/>
                  </a:moveTo>
                  <a:lnTo>
                    <a:pt x="1215428" y="0"/>
                  </a:lnTo>
                  <a:lnTo>
                    <a:pt x="442810" y="843292"/>
                  </a:lnTo>
                  <a:lnTo>
                    <a:pt x="661809" y="843292"/>
                  </a:lnTo>
                  <a:lnTo>
                    <a:pt x="1432077" y="0"/>
                  </a:lnTo>
                  <a:close/>
                </a:path>
                <a:path w="1998345" h="843915">
                  <a:moveTo>
                    <a:pt x="1875129" y="0"/>
                  </a:moveTo>
                  <a:lnTo>
                    <a:pt x="1658404" y="0"/>
                  </a:lnTo>
                  <a:lnTo>
                    <a:pt x="885634" y="843292"/>
                  </a:lnTo>
                  <a:lnTo>
                    <a:pt x="1104823" y="843292"/>
                  </a:lnTo>
                  <a:lnTo>
                    <a:pt x="1875129" y="0"/>
                  </a:lnTo>
                  <a:close/>
                </a:path>
                <a:path w="1998345" h="843915">
                  <a:moveTo>
                    <a:pt x="1997722" y="113182"/>
                  </a:moveTo>
                  <a:lnTo>
                    <a:pt x="1328661" y="843292"/>
                  </a:lnTo>
                  <a:lnTo>
                    <a:pt x="1547647" y="843292"/>
                  </a:lnTo>
                  <a:lnTo>
                    <a:pt x="1997722" y="350710"/>
                  </a:lnTo>
                  <a:lnTo>
                    <a:pt x="1997722" y="11318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3842607" y="9418208"/>
            <a:ext cx="4445635" cy="869315"/>
          </a:xfrm>
          <a:custGeom>
            <a:avLst/>
            <a:gdLst/>
            <a:ahLst/>
            <a:cxnLst/>
            <a:rect l="l" t="t" r="r" b="b"/>
            <a:pathLst>
              <a:path w="4445634" h="869315">
                <a:moveTo>
                  <a:pt x="0" y="0"/>
                </a:moveTo>
                <a:lnTo>
                  <a:pt x="4445390" y="0"/>
                </a:lnTo>
                <a:lnTo>
                  <a:pt x="4445390" y="868790"/>
                </a:lnTo>
                <a:lnTo>
                  <a:pt x="0" y="868790"/>
                </a:lnTo>
                <a:lnTo>
                  <a:pt x="0" y="0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197" y="1618961"/>
            <a:ext cx="5848349" cy="29527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1871" y="1618961"/>
            <a:ext cx="5886449" cy="30003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7052" y="5143500"/>
            <a:ext cx="5915024" cy="33051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41871" y="5143500"/>
            <a:ext cx="5886449" cy="3314699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4381838" y="-14862"/>
            <a:ext cx="7574915" cy="970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200" spc="575"/>
              <a:t>Frontend</a:t>
            </a:r>
            <a:r>
              <a:rPr dirty="0" sz="6200" spc="1005"/>
              <a:t> </a:t>
            </a:r>
            <a:r>
              <a:rPr dirty="0" sz="6200" spc="555"/>
              <a:t>Outputs</a:t>
            </a:r>
            <a:endParaRPr sz="6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89795" y="9262353"/>
            <a:ext cx="2896870" cy="1024890"/>
            <a:chOff x="15389795" y="9262353"/>
            <a:chExt cx="2896870" cy="1024890"/>
          </a:xfrm>
        </p:grpSpPr>
        <p:sp>
          <p:nvSpPr>
            <p:cNvPr id="3" name="object 3"/>
            <p:cNvSpPr/>
            <p:nvPr/>
          </p:nvSpPr>
          <p:spPr>
            <a:xfrm>
              <a:off x="15389795" y="9262353"/>
              <a:ext cx="2896870" cy="1024890"/>
            </a:xfrm>
            <a:custGeom>
              <a:avLst/>
              <a:gdLst/>
              <a:ahLst/>
              <a:cxnLst/>
              <a:rect l="l" t="t" r="r" b="b"/>
              <a:pathLst>
                <a:path w="2896869" h="1024890">
                  <a:moveTo>
                    <a:pt x="2896627" y="1024646"/>
                  </a:moveTo>
                  <a:lnTo>
                    <a:pt x="0" y="1024646"/>
                  </a:lnTo>
                  <a:lnTo>
                    <a:pt x="938768" y="0"/>
                  </a:lnTo>
                  <a:lnTo>
                    <a:pt x="2896627" y="0"/>
                  </a:lnTo>
                  <a:lnTo>
                    <a:pt x="2896627" y="1024646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255188" y="9262364"/>
              <a:ext cx="2031364" cy="1024890"/>
            </a:xfrm>
            <a:custGeom>
              <a:avLst/>
              <a:gdLst/>
              <a:ahLst/>
              <a:cxnLst/>
              <a:rect l="l" t="t" r="r" b="b"/>
              <a:pathLst>
                <a:path w="2031365" h="1024890">
                  <a:moveTo>
                    <a:pt x="1360246" y="0"/>
                  </a:moveTo>
                  <a:lnTo>
                    <a:pt x="938758" y="0"/>
                  </a:lnTo>
                  <a:lnTo>
                    <a:pt x="0" y="1024648"/>
                  </a:lnTo>
                  <a:lnTo>
                    <a:pt x="424510" y="1024648"/>
                  </a:lnTo>
                  <a:lnTo>
                    <a:pt x="1360246" y="0"/>
                  </a:lnTo>
                  <a:close/>
                </a:path>
                <a:path w="2031365" h="1024890">
                  <a:moveTo>
                    <a:pt x="2031225" y="696163"/>
                  </a:moveTo>
                  <a:lnTo>
                    <a:pt x="1730311" y="1024648"/>
                  </a:lnTo>
                  <a:lnTo>
                    <a:pt x="2031225" y="1024648"/>
                  </a:lnTo>
                  <a:lnTo>
                    <a:pt x="2031225" y="696163"/>
                  </a:lnTo>
                  <a:close/>
                </a:path>
                <a:path w="2031365" h="1024890">
                  <a:moveTo>
                    <a:pt x="2031225" y="0"/>
                  </a:moveTo>
                  <a:lnTo>
                    <a:pt x="1803768" y="0"/>
                  </a:lnTo>
                  <a:lnTo>
                    <a:pt x="864997" y="1024648"/>
                  </a:lnTo>
                  <a:lnTo>
                    <a:pt x="1289748" y="1024648"/>
                  </a:lnTo>
                  <a:lnTo>
                    <a:pt x="2031225" y="212902"/>
                  </a:lnTo>
                  <a:lnTo>
                    <a:pt x="2031225" y="0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4835356" y="0"/>
            <a:ext cx="3453129" cy="1932939"/>
            <a:chOff x="14835356" y="0"/>
            <a:chExt cx="3453129" cy="1932939"/>
          </a:xfrm>
        </p:grpSpPr>
        <p:sp>
          <p:nvSpPr>
            <p:cNvPr id="6" name="object 6"/>
            <p:cNvSpPr/>
            <p:nvPr/>
          </p:nvSpPr>
          <p:spPr>
            <a:xfrm>
              <a:off x="16141615" y="0"/>
              <a:ext cx="2146300" cy="1444625"/>
            </a:xfrm>
            <a:custGeom>
              <a:avLst/>
              <a:gdLst/>
              <a:ahLst/>
              <a:cxnLst/>
              <a:rect l="l" t="t" r="r" b="b"/>
              <a:pathLst>
                <a:path w="2146300" h="1444625">
                  <a:moveTo>
                    <a:pt x="1323464" y="1444435"/>
                  </a:moveTo>
                  <a:lnTo>
                    <a:pt x="2146247" y="546506"/>
                  </a:lnTo>
                  <a:lnTo>
                    <a:pt x="2146247" y="0"/>
                  </a:lnTo>
                  <a:lnTo>
                    <a:pt x="0" y="0"/>
                  </a:lnTo>
                  <a:lnTo>
                    <a:pt x="1323464" y="1444435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065372" y="0"/>
              <a:ext cx="1223010" cy="1441450"/>
            </a:xfrm>
            <a:custGeom>
              <a:avLst/>
              <a:gdLst/>
              <a:ahLst/>
              <a:cxnLst/>
              <a:rect l="l" t="t" r="r" b="b"/>
              <a:pathLst>
                <a:path w="1223009" h="1441450">
                  <a:moveTo>
                    <a:pt x="402325" y="1441413"/>
                  </a:moveTo>
                  <a:lnTo>
                    <a:pt x="1222489" y="546506"/>
                  </a:lnTo>
                  <a:lnTo>
                    <a:pt x="1222489" y="0"/>
                  </a:lnTo>
                  <a:lnTo>
                    <a:pt x="898093" y="0"/>
                  </a:lnTo>
                  <a:lnTo>
                    <a:pt x="0" y="1002220"/>
                  </a:lnTo>
                  <a:lnTo>
                    <a:pt x="402325" y="1441413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843245" y="0"/>
              <a:ext cx="2444750" cy="1932939"/>
            </a:xfrm>
            <a:custGeom>
              <a:avLst/>
              <a:gdLst/>
              <a:ahLst/>
              <a:cxnLst/>
              <a:rect l="l" t="t" r="r" b="b"/>
              <a:pathLst>
                <a:path w="2444750" h="1932939">
                  <a:moveTo>
                    <a:pt x="1770515" y="1932384"/>
                  </a:moveTo>
                  <a:lnTo>
                    <a:pt x="2444617" y="1196835"/>
                  </a:lnTo>
                  <a:lnTo>
                    <a:pt x="2444617" y="865223"/>
                  </a:lnTo>
                  <a:lnTo>
                    <a:pt x="1770515" y="1600772"/>
                  </a:lnTo>
                  <a:lnTo>
                    <a:pt x="298591" y="0"/>
                  </a:lnTo>
                  <a:lnTo>
                    <a:pt x="0" y="0"/>
                  </a:lnTo>
                  <a:lnTo>
                    <a:pt x="1770515" y="1932384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835356" y="0"/>
              <a:ext cx="1998345" cy="1080770"/>
            </a:xfrm>
            <a:custGeom>
              <a:avLst/>
              <a:gdLst/>
              <a:ahLst/>
              <a:cxnLst/>
              <a:rect l="l" t="t" r="r" b="b"/>
              <a:pathLst>
                <a:path w="1998344" h="1080770">
                  <a:moveTo>
                    <a:pt x="0" y="1080388"/>
                  </a:moveTo>
                  <a:lnTo>
                    <a:pt x="1997928" y="1080388"/>
                  </a:lnTo>
                  <a:lnTo>
                    <a:pt x="1008089" y="0"/>
                  </a:lnTo>
                  <a:lnTo>
                    <a:pt x="0" y="0"/>
                  </a:lnTo>
                  <a:lnTo>
                    <a:pt x="0" y="1080388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835353" y="11"/>
              <a:ext cx="1998345" cy="1080770"/>
            </a:xfrm>
            <a:custGeom>
              <a:avLst/>
              <a:gdLst/>
              <a:ahLst/>
              <a:cxnLst/>
              <a:rect l="l" t="t" r="r" b="b"/>
              <a:pathLst>
                <a:path w="1998344" h="1080770">
                  <a:moveTo>
                    <a:pt x="669061" y="1080376"/>
                  </a:moveTo>
                  <a:lnTo>
                    <a:pt x="0" y="350278"/>
                  </a:lnTo>
                  <a:lnTo>
                    <a:pt x="0" y="587806"/>
                  </a:lnTo>
                  <a:lnTo>
                    <a:pt x="450075" y="1080376"/>
                  </a:lnTo>
                  <a:lnTo>
                    <a:pt x="669061" y="1080376"/>
                  </a:lnTo>
                  <a:close/>
                </a:path>
                <a:path w="1998344" h="1080770">
                  <a:moveTo>
                    <a:pt x="1112088" y="1080376"/>
                  </a:moveTo>
                  <a:lnTo>
                    <a:pt x="122047" y="0"/>
                  </a:lnTo>
                  <a:lnTo>
                    <a:pt x="0" y="0"/>
                  </a:lnTo>
                  <a:lnTo>
                    <a:pt x="0" y="102870"/>
                  </a:lnTo>
                  <a:lnTo>
                    <a:pt x="892886" y="1080376"/>
                  </a:lnTo>
                  <a:lnTo>
                    <a:pt x="1112088" y="1080376"/>
                  </a:lnTo>
                  <a:close/>
                </a:path>
                <a:path w="1998344" h="1080770">
                  <a:moveTo>
                    <a:pt x="1554899" y="1080376"/>
                  </a:moveTo>
                  <a:lnTo>
                    <a:pt x="565061" y="0"/>
                  </a:lnTo>
                  <a:lnTo>
                    <a:pt x="349072" y="0"/>
                  </a:lnTo>
                  <a:lnTo>
                    <a:pt x="1335913" y="1080376"/>
                  </a:lnTo>
                  <a:lnTo>
                    <a:pt x="1554899" y="1080376"/>
                  </a:lnTo>
                  <a:close/>
                </a:path>
                <a:path w="1998344" h="1080770">
                  <a:moveTo>
                    <a:pt x="1997722" y="1080376"/>
                  </a:moveTo>
                  <a:lnTo>
                    <a:pt x="1007884" y="0"/>
                  </a:lnTo>
                  <a:lnTo>
                    <a:pt x="791895" y="0"/>
                  </a:lnTo>
                  <a:lnTo>
                    <a:pt x="1778736" y="1080376"/>
                  </a:lnTo>
                  <a:lnTo>
                    <a:pt x="1997722" y="1080376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0" y="9382205"/>
            <a:ext cx="4695825" cy="897890"/>
          </a:xfrm>
          <a:custGeom>
            <a:avLst/>
            <a:gdLst/>
            <a:ahLst/>
            <a:cxnLst/>
            <a:rect l="l" t="t" r="r" b="b"/>
            <a:pathLst>
              <a:path w="4695825" h="897890">
                <a:moveTo>
                  <a:pt x="4695770" y="897446"/>
                </a:moveTo>
                <a:lnTo>
                  <a:pt x="0" y="897446"/>
                </a:lnTo>
                <a:lnTo>
                  <a:pt x="0" y="0"/>
                </a:lnTo>
                <a:lnTo>
                  <a:pt x="4695770" y="0"/>
                </a:lnTo>
                <a:lnTo>
                  <a:pt x="4695770" y="897446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580" y="2402702"/>
            <a:ext cx="6867524" cy="31146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4001" y="2368313"/>
            <a:ext cx="7143749" cy="3152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6089" y="6024405"/>
            <a:ext cx="6848474" cy="32384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84001" y="6024405"/>
            <a:ext cx="7143749" cy="3257549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708794" y="412781"/>
            <a:ext cx="7731125" cy="10521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700" spc="690"/>
              <a:t>Backend</a:t>
            </a:r>
            <a:r>
              <a:rPr dirty="0" sz="6700" spc="-270"/>
              <a:t> </a:t>
            </a:r>
            <a:r>
              <a:rPr dirty="0" sz="6700" spc="630"/>
              <a:t>Outputs</a:t>
            </a:r>
            <a:endParaRPr sz="6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2D0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1966" rIns="0" bIns="0" rtlCol="0" vert="horz">
            <a:spAutoFit/>
          </a:bodyPr>
          <a:lstStyle/>
          <a:p>
            <a:pPr marL="3904615">
              <a:lnSpc>
                <a:spcPct val="100000"/>
              </a:lnSpc>
              <a:spcBef>
                <a:spcPts val="110"/>
              </a:spcBef>
            </a:pPr>
            <a:r>
              <a:rPr dirty="0" spc="520"/>
              <a:t>Future</a:t>
            </a:r>
            <a:r>
              <a:rPr dirty="0" spc="-229"/>
              <a:t> </a:t>
            </a:r>
            <a:r>
              <a:rPr dirty="0" spc="595"/>
              <a:t>Enhancements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4004" rIns="0" bIns="0" rtlCol="0" vert="horz">
            <a:spAutoFit/>
          </a:bodyPr>
          <a:lstStyle/>
          <a:p>
            <a:pPr algn="ctr" marL="12065" marR="5080">
              <a:lnSpc>
                <a:spcPct val="116500"/>
              </a:lnSpc>
              <a:spcBef>
                <a:spcPts val="100"/>
              </a:spcBef>
            </a:pPr>
            <a:r>
              <a:rPr dirty="0" spc="340" b="1">
                <a:latin typeface="Cambria"/>
                <a:cs typeface="Cambria"/>
              </a:rPr>
              <a:t>AI</a:t>
            </a:r>
            <a:r>
              <a:rPr dirty="0" spc="50" b="1">
                <a:latin typeface="Cambria"/>
                <a:cs typeface="Cambria"/>
              </a:rPr>
              <a:t> </a:t>
            </a:r>
            <a:r>
              <a:rPr dirty="0" spc="-10" b="1">
                <a:latin typeface="Cambria"/>
                <a:cs typeface="Cambria"/>
              </a:rPr>
              <a:t>Recommendations:</a:t>
            </a:r>
            <a:r>
              <a:rPr dirty="0" spc="50" b="1">
                <a:latin typeface="Cambria"/>
                <a:cs typeface="Cambria"/>
              </a:rPr>
              <a:t> </a:t>
            </a:r>
            <a:r>
              <a:rPr dirty="0" spc="-165"/>
              <a:t>Personalized</a:t>
            </a:r>
            <a:r>
              <a:rPr dirty="0" spc="-55"/>
              <a:t> </a:t>
            </a:r>
            <a:r>
              <a:rPr dirty="0" spc="-125"/>
              <a:t>promotions</a:t>
            </a:r>
            <a:r>
              <a:rPr dirty="0" spc="-55"/>
              <a:t> </a:t>
            </a:r>
            <a:r>
              <a:rPr dirty="0" spc="145"/>
              <a:t>&amp;</a:t>
            </a:r>
            <a:r>
              <a:rPr dirty="0" spc="-60"/>
              <a:t> </a:t>
            </a:r>
            <a:r>
              <a:rPr dirty="0" spc="-315"/>
              <a:t>smart </a:t>
            </a:r>
            <a:r>
              <a:rPr dirty="0" spc="-110"/>
              <a:t>reminders</a:t>
            </a:r>
          </a:p>
          <a:p>
            <a:pPr algn="ctr" marL="507365" marR="499745">
              <a:lnSpc>
                <a:spcPct val="116500"/>
              </a:lnSpc>
            </a:pPr>
            <a:r>
              <a:rPr dirty="0" spc="-105" b="1">
                <a:latin typeface="Cambria"/>
                <a:cs typeface="Cambria"/>
              </a:rPr>
              <a:t>Predictive</a:t>
            </a:r>
            <a:r>
              <a:rPr dirty="0" spc="85" b="1">
                <a:latin typeface="Cambria"/>
                <a:cs typeface="Cambria"/>
              </a:rPr>
              <a:t> </a:t>
            </a:r>
            <a:r>
              <a:rPr dirty="0" b="1">
                <a:latin typeface="Cambria"/>
                <a:cs typeface="Cambria"/>
              </a:rPr>
              <a:t>Analytics:</a:t>
            </a:r>
            <a:r>
              <a:rPr dirty="0" spc="90" b="1">
                <a:latin typeface="Cambria"/>
                <a:cs typeface="Cambria"/>
              </a:rPr>
              <a:t> </a:t>
            </a:r>
            <a:r>
              <a:rPr dirty="0" spc="-175"/>
              <a:t>Forecast</a:t>
            </a:r>
            <a:r>
              <a:rPr dirty="0" spc="-20"/>
              <a:t> </a:t>
            </a:r>
            <a:r>
              <a:rPr dirty="0" spc="-135"/>
              <a:t>conversions</a:t>
            </a:r>
            <a:r>
              <a:rPr dirty="0" spc="-20"/>
              <a:t> </a:t>
            </a:r>
            <a:r>
              <a:rPr dirty="0" spc="145"/>
              <a:t>&amp;</a:t>
            </a:r>
            <a:r>
              <a:rPr dirty="0" spc="-20"/>
              <a:t> </a:t>
            </a:r>
            <a:r>
              <a:rPr dirty="0" spc="-10"/>
              <a:t>turnout </a:t>
            </a:r>
            <a:r>
              <a:rPr dirty="0" b="1">
                <a:latin typeface="Cambria"/>
                <a:cs typeface="Cambria"/>
              </a:rPr>
              <a:t>Advanced</a:t>
            </a:r>
            <a:r>
              <a:rPr dirty="0" spc="-45" b="1">
                <a:latin typeface="Cambria"/>
                <a:cs typeface="Cambria"/>
              </a:rPr>
              <a:t> </a:t>
            </a:r>
            <a:r>
              <a:rPr dirty="0" b="1">
                <a:latin typeface="Cambria"/>
                <a:cs typeface="Cambria"/>
              </a:rPr>
              <a:t>Visualization:</a:t>
            </a:r>
            <a:r>
              <a:rPr dirty="0" spc="10" b="1">
                <a:latin typeface="Cambria"/>
                <a:cs typeface="Cambria"/>
              </a:rPr>
              <a:t> </a:t>
            </a:r>
            <a:r>
              <a:rPr dirty="0" spc="-75"/>
              <a:t>Comparative</a:t>
            </a:r>
            <a:r>
              <a:rPr dirty="0" spc="-105"/>
              <a:t> </a:t>
            </a:r>
            <a:r>
              <a:rPr dirty="0" spc="-254"/>
              <a:t>analysis</a:t>
            </a:r>
            <a:r>
              <a:rPr dirty="0" spc="-60"/>
              <a:t> </a:t>
            </a:r>
            <a:r>
              <a:rPr dirty="0" spc="-295"/>
              <a:t>across </a:t>
            </a:r>
            <a:r>
              <a:rPr dirty="0" spc="-280"/>
              <a:t>stores/events</a:t>
            </a: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b="1">
                <a:latin typeface="Cambria"/>
                <a:cs typeface="Cambria"/>
              </a:rPr>
              <a:t>Expansion:</a:t>
            </a:r>
            <a:r>
              <a:rPr dirty="0" spc="100" b="1">
                <a:latin typeface="Cambria"/>
                <a:cs typeface="Cambria"/>
              </a:rPr>
              <a:t> </a:t>
            </a:r>
            <a:r>
              <a:rPr dirty="0" spc="-60"/>
              <a:t>Shopping</a:t>
            </a:r>
            <a:r>
              <a:rPr dirty="0" spc="-10"/>
              <a:t> </a:t>
            </a:r>
            <a:r>
              <a:rPr dirty="0" spc="-260"/>
              <a:t>malls,</a:t>
            </a:r>
            <a:r>
              <a:rPr dirty="0" spc="-10"/>
              <a:t> </a:t>
            </a:r>
            <a:r>
              <a:rPr dirty="0" spc="150"/>
              <a:t>FMCG,</a:t>
            </a:r>
            <a:r>
              <a:rPr dirty="0" spc="-5"/>
              <a:t> </a:t>
            </a:r>
            <a:r>
              <a:rPr dirty="0" spc="-135"/>
              <a:t>supermarkets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392479"/>
            <a:ext cx="2518410" cy="894715"/>
            <a:chOff x="0" y="9392479"/>
            <a:chExt cx="2518410" cy="894715"/>
          </a:xfrm>
        </p:grpSpPr>
        <p:sp>
          <p:nvSpPr>
            <p:cNvPr id="3" name="object 3"/>
            <p:cNvSpPr/>
            <p:nvPr/>
          </p:nvSpPr>
          <p:spPr>
            <a:xfrm>
              <a:off x="0" y="9392479"/>
              <a:ext cx="2518410" cy="894715"/>
            </a:xfrm>
            <a:custGeom>
              <a:avLst/>
              <a:gdLst/>
              <a:ahLst/>
              <a:cxnLst/>
              <a:rect l="l" t="t" r="r" b="b"/>
              <a:pathLst>
                <a:path w="2518410" h="894715">
                  <a:moveTo>
                    <a:pt x="0" y="894520"/>
                  </a:moveTo>
                  <a:lnTo>
                    <a:pt x="2518222" y="894520"/>
                  </a:lnTo>
                  <a:lnTo>
                    <a:pt x="1698674" y="0"/>
                  </a:lnTo>
                  <a:lnTo>
                    <a:pt x="0" y="0"/>
                  </a:lnTo>
                  <a:lnTo>
                    <a:pt x="0" y="89452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392487"/>
              <a:ext cx="1652905" cy="894715"/>
            </a:xfrm>
            <a:custGeom>
              <a:avLst/>
              <a:gdLst/>
              <a:ahLst/>
              <a:cxnLst/>
              <a:rect l="l" t="t" r="r" b="b"/>
              <a:pathLst>
                <a:path w="1652905" h="894715">
                  <a:moveTo>
                    <a:pt x="787819" y="894524"/>
                  </a:moveTo>
                  <a:lnTo>
                    <a:pt x="0" y="34620"/>
                  </a:lnTo>
                  <a:lnTo>
                    <a:pt x="0" y="496646"/>
                  </a:lnTo>
                  <a:lnTo>
                    <a:pt x="363423" y="894524"/>
                  </a:lnTo>
                  <a:lnTo>
                    <a:pt x="787819" y="894524"/>
                  </a:lnTo>
                  <a:close/>
                </a:path>
                <a:path w="1652905" h="894715">
                  <a:moveTo>
                    <a:pt x="1652828" y="894511"/>
                  </a:moveTo>
                  <a:lnTo>
                    <a:pt x="833272" y="0"/>
                  </a:lnTo>
                  <a:lnTo>
                    <a:pt x="411797" y="0"/>
                  </a:lnTo>
                  <a:lnTo>
                    <a:pt x="1228686" y="894511"/>
                  </a:lnTo>
                  <a:lnTo>
                    <a:pt x="1652828" y="894511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3417570" cy="1695450"/>
            <a:chOff x="0" y="0"/>
            <a:chExt cx="3417570" cy="169545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894205" cy="1207770"/>
            </a:xfrm>
            <a:custGeom>
              <a:avLst/>
              <a:gdLst/>
              <a:ahLst/>
              <a:cxnLst/>
              <a:rect l="l" t="t" r="r" b="b"/>
              <a:pathLst>
                <a:path w="1894205" h="1207770">
                  <a:moveTo>
                    <a:pt x="787357" y="1207342"/>
                  </a:moveTo>
                  <a:lnTo>
                    <a:pt x="0" y="348074"/>
                  </a:lnTo>
                  <a:lnTo>
                    <a:pt x="0" y="0"/>
                  </a:lnTo>
                  <a:lnTo>
                    <a:pt x="1893584" y="0"/>
                  </a:lnTo>
                  <a:lnTo>
                    <a:pt x="787357" y="120734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1187450" cy="1204595"/>
            </a:xfrm>
            <a:custGeom>
              <a:avLst/>
              <a:gdLst/>
              <a:ahLst/>
              <a:cxnLst/>
              <a:rect l="l" t="t" r="r" b="b"/>
              <a:pathLst>
                <a:path w="1187450" h="1204595">
                  <a:moveTo>
                    <a:pt x="784738" y="1204320"/>
                  </a:moveTo>
                  <a:lnTo>
                    <a:pt x="0" y="348067"/>
                  </a:lnTo>
                  <a:lnTo>
                    <a:pt x="0" y="0"/>
                  </a:lnTo>
                  <a:lnTo>
                    <a:pt x="501430" y="0"/>
                  </a:lnTo>
                  <a:lnTo>
                    <a:pt x="1187063" y="765126"/>
                  </a:lnTo>
                  <a:lnTo>
                    <a:pt x="784738" y="1204320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2192020" cy="1695450"/>
            </a:xfrm>
            <a:custGeom>
              <a:avLst/>
              <a:gdLst/>
              <a:ahLst/>
              <a:cxnLst/>
              <a:rect l="l" t="t" r="r" b="b"/>
              <a:pathLst>
                <a:path w="2192020" h="1695450">
                  <a:moveTo>
                    <a:pt x="942509" y="1363679"/>
                  </a:moveTo>
                  <a:lnTo>
                    <a:pt x="638676" y="1363679"/>
                  </a:lnTo>
                  <a:lnTo>
                    <a:pt x="1892590" y="0"/>
                  </a:lnTo>
                  <a:lnTo>
                    <a:pt x="2191958" y="0"/>
                  </a:lnTo>
                  <a:lnTo>
                    <a:pt x="942509" y="1363679"/>
                  </a:lnTo>
                  <a:close/>
                </a:path>
                <a:path w="2192020" h="1695450">
                  <a:moveTo>
                    <a:pt x="638676" y="1695290"/>
                  </a:moveTo>
                  <a:lnTo>
                    <a:pt x="0" y="998396"/>
                  </a:lnTo>
                  <a:lnTo>
                    <a:pt x="0" y="666785"/>
                  </a:lnTo>
                  <a:lnTo>
                    <a:pt x="638676" y="1363679"/>
                  </a:lnTo>
                  <a:lnTo>
                    <a:pt x="942509" y="1363679"/>
                  </a:lnTo>
                  <a:lnTo>
                    <a:pt x="638676" y="1695290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19151" y="0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1997928" y="843295"/>
                  </a:moveTo>
                  <a:lnTo>
                    <a:pt x="0" y="843295"/>
                  </a:lnTo>
                  <a:lnTo>
                    <a:pt x="772616" y="0"/>
                  </a:lnTo>
                  <a:lnTo>
                    <a:pt x="1997928" y="0"/>
                  </a:lnTo>
                  <a:lnTo>
                    <a:pt x="1997928" y="843295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19352" y="11"/>
              <a:ext cx="1998345" cy="843915"/>
            </a:xfrm>
            <a:custGeom>
              <a:avLst/>
              <a:gdLst/>
              <a:ahLst/>
              <a:cxnLst/>
              <a:rect l="l" t="t" r="r" b="b"/>
              <a:pathLst>
                <a:path w="1998345" h="843915">
                  <a:moveTo>
                    <a:pt x="989253" y="0"/>
                  </a:moveTo>
                  <a:lnTo>
                    <a:pt x="772617" y="0"/>
                  </a:lnTo>
                  <a:lnTo>
                    <a:pt x="0" y="843292"/>
                  </a:lnTo>
                  <a:lnTo>
                    <a:pt x="218986" y="843292"/>
                  </a:lnTo>
                  <a:lnTo>
                    <a:pt x="989253" y="0"/>
                  </a:lnTo>
                  <a:close/>
                </a:path>
                <a:path w="1998345" h="843915">
                  <a:moveTo>
                    <a:pt x="1432077" y="0"/>
                  </a:moveTo>
                  <a:lnTo>
                    <a:pt x="1215428" y="0"/>
                  </a:lnTo>
                  <a:lnTo>
                    <a:pt x="442810" y="843292"/>
                  </a:lnTo>
                  <a:lnTo>
                    <a:pt x="661809" y="843292"/>
                  </a:lnTo>
                  <a:lnTo>
                    <a:pt x="1432077" y="0"/>
                  </a:lnTo>
                  <a:close/>
                </a:path>
                <a:path w="1998345" h="843915">
                  <a:moveTo>
                    <a:pt x="1875129" y="0"/>
                  </a:moveTo>
                  <a:lnTo>
                    <a:pt x="1658404" y="0"/>
                  </a:lnTo>
                  <a:lnTo>
                    <a:pt x="885634" y="843292"/>
                  </a:lnTo>
                  <a:lnTo>
                    <a:pt x="1104823" y="843292"/>
                  </a:lnTo>
                  <a:lnTo>
                    <a:pt x="1875129" y="0"/>
                  </a:lnTo>
                  <a:close/>
                </a:path>
                <a:path w="1998345" h="843915">
                  <a:moveTo>
                    <a:pt x="1997722" y="113182"/>
                  </a:moveTo>
                  <a:lnTo>
                    <a:pt x="1328661" y="843292"/>
                  </a:lnTo>
                  <a:lnTo>
                    <a:pt x="1547647" y="843292"/>
                  </a:lnTo>
                  <a:lnTo>
                    <a:pt x="1997722" y="350710"/>
                  </a:lnTo>
                  <a:lnTo>
                    <a:pt x="1997722" y="113182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3842607" y="9418208"/>
            <a:ext cx="4445635" cy="869315"/>
          </a:xfrm>
          <a:custGeom>
            <a:avLst/>
            <a:gdLst/>
            <a:ahLst/>
            <a:cxnLst/>
            <a:rect l="l" t="t" r="r" b="b"/>
            <a:pathLst>
              <a:path w="4445634" h="869315">
                <a:moveTo>
                  <a:pt x="0" y="0"/>
                </a:moveTo>
                <a:lnTo>
                  <a:pt x="4445390" y="0"/>
                </a:lnTo>
                <a:lnTo>
                  <a:pt x="4445390" y="868790"/>
                </a:lnTo>
                <a:lnTo>
                  <a:pt x="0" y="868790"/>
                </a:lnTo>
                <a:lnTo>
                  <a:pt x="0" y="0"/>
                </a:lnTo>
                <a:close/>
              </a:path>
            </a:pathLst>
          </a:custGeom>
          <a:solidFill>
            <a:srgbClr val="232A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645305" y="2478499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232A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0" spc="145"/>
              <a:t>CONCLUSION</a:t>
            </a:r>
            <a:endParaRPr sz="8000"/>
          </a:p>
        </p:txBody>
      </p:sp>
      <p:sp>
        <p:nvSpPr>
          <p:cNvPr id="14" name="object 14"/>
          <p:cNvSpPr txBox="1"/>
          <p:nvPr/>
        </p:nvSpPr>
        <p:spPr>
          <a:xfrm>
            <a:off x="1537076" y="3711885"/>
            <a:ext cx="14052550" cy="2458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7465" marR="30480">
              <a:lnSpc>
                <a:spcPct val="116900"/>
              </a:lnSpc>
              <a:spcBef>
                <a:spcPts val="95"/>
              </a:spcBef>
            </a:pPr>
            <a:r>
              <a:rPr dirty="0" sz="4550" spc="-40">
                <a:latin typeface="Georgia"/>
                <a:cs typeface="Georgia"/>
              </a:rPr>
              <a:t>Consumer</a:t>
            </a:r>
            <a:r>
              <a:rPr dirty="0" sz="4550" spc="-235">
                <a:latin typeface="Georgia"/>
                <a:cs typeface="Georgia"/>
              </a:rPr>
              <a:t> </a:t>
            </a:r>
            <a:r>
              <a:rPr dirty="0" sz="4550" spc="-40">
                <a:latin typeface="Georgia"/>
                <a:cs typeface="Georgia"/>
              </a:rPr>
              <a:t>Attention</a:t>
            </a:r>
            <a:r>
              <a:rPr dirty="0" sz="4550" spc="-150">
                <a:latin typeface="Georgia"/>
                <a:cs typeface="Georgia"/>
              </a:rPr>
              <a:t> </a:t>
            </a:r>
            <a:r>
              <a:rPr dirty="0" sz="4550" spc="-35">
                <a:latin typeface="Georgia"/>
                <a:cs typeface="Georgia"/>
              </a:rPr>
              <a:t>Mapping</a:t>
            </a:r>
            <a:r>
              <a:rPr dirty="0" sz="4550" spc="-140">
                <a:latin typeface="Georgia"/>
                <a:cs typeface="Georgia"/>
              </a:rPr>
              <a:t> </a:t>
            </a:r>
            <a:r>
              <a:rPr dirty="0" sz="4550" spc="-130">
                <a:latin typeface="Georgia"/>
                <a:cs typeface="Georgia"/>
              </a:rPr>
              <a:t>System</a:t>
            </a:r>
            <a:r>
              <a:rPr dirty="0" sz="4550" spc="-145">
                <a:latin typeface="Georgia"/>
                <a:cs typeface="Georgia"/>
              </a:rPr>
              <a:t> </a:t>
            </a:r>
            <a:r>
              <a:rPr dirty="0" sz="4550" spc="-175">
                <a:latin typeface="Georgia"/>
                <a:cs typeface="Georgia"/>
              </a:rPr>
              <a:t>enables</a:t>
            </a:r>
            <a:r>
              <a:rPr dirty="0" sz="4550" spc="-95">
                <a:latin typeface="Georgia"/>
                <a:cs typeface="Georgia"/>
              </a:rPr>
              <a:t> </a:t>
            </a:r>
            <a:r>
              <a:rPr dirty="0" sz="4550" spc="-185">
                <a:latin typeface="Georgia"/>
                <a:cs typeface="Georgia"/>
              </a:rPr>
              <a:t>retailers</a:t>
            </a:r>
            <a:r>
              <a:rPr dirty="0" sz="4550" spc="-95">
                <a:latin typeface="Georgia"/>
                <a:cs typeface="Georgia"/>
              </a:rPr>
              <a:t> </a:t>
            </a:r>
            <a:r>
              <a:rPr dirty="0" sz="4550" spc="-25">
                <a:latin typeface="Georgia"/>
                <a:cs typeface="Georgia"/>
              </a:rPr>
              <a:t>to </a:t>
            </a:r>
            <a:r>
              <a:rPr dirty="0" sz="4550" spc="-60">
                <a:latin typeface="Georgia"/>
                <a:cs typeface="Georgia"/>
              </a:rPr>
              <a:t>optimize</a:t>
            </a:r>
            <a:r>
              <a:rPr dirty="0" sz="4550" spc="-90">
                <a:latin typeface="Georgia"/>
                <a:cs typeface="Georgia"/>
              </a:rPr>
              <a:t> </a:t>
            </a:r>
            <a:r>
              <a:rPr dirty="0" sz="4550" spc="-150">
                <a:latin typeface="Georgia"/>
                <a:cs typeface="Georgia"/>
              </a:rPr>
              <a:t>shelf</a:t>
            </a:r>
            <a:r>
              <a:rPr dirty="0" sz="4550" spc="-80">
                <a:latin typeface="Georgia"/>
                <a:cs typeface="Georgia"/>
              </a:rPr>
              <a:t> </a:t>
            </a:r>
            <a:r>
              <a:rPr dirty="0" sz="4550" spc="-120">
                <a:latin typeface="Georgia"/>
                <a:cs typeface="Georgia"/>
              </a:rPr>
              <a:t>placement,</a:t>
            </a:r>
            <a:r>
              <a:rPr dirty="0" sz="4550" spc="-85">
                <a:latin typeface="Georgia"/>
                <a:cs typeface="Georgia"/>
              </a:rPr>
              <a:t> </a:t>
            </a:r>
            <a:r>
              <a:rPr dirty="0" sz="4550" spc="-50">
                <a:latin typeface="Georgia"/>
                <a:cs typeface="Georgia"/>
              </a:rPr>
              <a:t>imp</a:t>
            </a:r>
            <a:r>
              <a:rPr dirty="0" sz="4550" spc="-1835">
                <a:latin typeface="Georgia"/>
                <a:cs typeface="Georgia"/>
              </a:rPr>
              <a:t>r</a:t>
            </a:r>
            <a:r>
              <a:rPr dirty="0" baseline="13888" sz="1800" spc="-60">
                <a:latin typeface="Georgia"/>
                <a:cs typeface="Georgia"/>
              </a:rPr>
              <a:t>Ca</a:t>
            </a:r>
            <a:r>
              <a:rPr dirty="0" baseline="13888" sz="1800" spc="-547">
                <a:latin typeface="Georgia"/>
                <a:cs typeface="Georgia"/>
              </a:rPr>
              <a:t>r</a:t>
            </a:r>
            <a:r>
              <a:rPr dirty="0" sz="4550" spc="-2230">
                <a:latin typeface="Georgia"/>
                <a:cs typeface="Georgia"/>
              </a:rPr>
              <a:t>o</a:t>
            </a:r>
            <a:r>
              <a:rPr dirty="0" baseline="13888" sz="1800" spc="-60">
                <a:latin typeface="Georgia"/>
                <a:cs typeface="Georgia"/>
              </a:rPr>
              <a:t>do</a:t>
            </a:r>
            <a:r>
              <a:rPr dirty="0" baseline="13888" sz="1800" spc="675">
                <a:latin typeface="Georgia"/>
                <a:cs typeface="Georgia"/>
              </a:rPr>
              <a:t> </a:t>
            </a:r>
            <a:r>
              <a:rPr dirty="0" sz="4550">
                <a:latin typeface="Georgia"/>
                <a:cs typeface="Georgia"/>
              </a:rPr>
              <a:t>ve</a:t>
            </a:r>
            <a:r>
              <a:rPr dirty="0" sz="4550" spc="-85">
                <a:latin typeface="Georgia"/>
                <a:cs typeface="Georgia"/>
              </a:rPr>
              <a:t> </a:t>
            </a:r>
            <a:r>
              <a:rPr dirty="0" sz="4550" spc="-80">
                <a:latin typeface="Georgia"/>
                <a:cs typeface="Georgia"/>
              </a:rPr>
              <a:t>product</a:t>
            </a:r>
            <a:r>
              <a:rPr dirty="0" sz="4550" spc="-85">
                <a:latin typeface="Georgia"/>
                <a:cs typeface="Georgia"/>
              </a:rPr>
              <a:t> </a:t>
            </a:r>
            <a:r>
              <a:rPr dirty="0" sz="4550" spc="-60">
                <a:latin typeface="Georgia"/>
                <a:cs typeface="Georgia"/>
              </a:rPr>
              <a:t>visibility,</a:t>
            </a:r>
            <a:r>
              <a:rPr dirty="0" sz="4550" spc="-90">
                <a:latin typeface="Georgia"/>
                <a:cs typeface="Georgia"/>
              </a:rPr>
              <a:t> </a:t>
            </a:r>
            <a:r>
              <a:rPr dirty="0" sz="4550" spc="-25">
                <a:latin typeface="Georgia"/>
                <a:cs typeface="Georgia"/>
              </a:rPr>
              <a:t>and </a:t>
            </a:r>
            <a:r>
              <a:rPr dirty="0" sz="4550" spc="-100">
                <a:latin typeface="Georgia"/>
                <a:cs typeface="Georgia"/>
              </a:rPr>
              <a:t>enhance</a:t>
            </a:r>
            <a:r>
              <a:rPr dirty="0" sz="4550" spc="-105">
                <a:latin typeface="Georgia"/>
                <a:cs typeface="Georgia"/>
              </a:rPr>
              <a:t> </a:t>
            </a:r>
            <a:r>
              <a:rPr dirty="0" sz="4550" spc="-95">
                <a:latin typeface="Georgia"/>
                <a:cs typeface="Georgia"/>
              </a:rPr>
              <a:t>c</a:t>
            </a:r>
            <a:r>
              <a:rPr dirty="0" sz="4550" spc="-100">
                <a:latin typeface="Georgia"/>
                <a:cs typeface="Georgia"/>
              </a:rPr>
              <a:t>us</a:t>
            </a:r>
            <a:r>
              <a:rPr dirty="0" sz="4550" spc="-785">
                <a:latin typeface="Georgia"/>
                <a:cs typeface="Georgia"/>
              </a:rPr>
              <a:t>t</a:t>
            </a:r>
            <a:r>
              <a:rPr dirty="0" baseline="90277" sz="1800" spc="-509">
                <a:latin typeface="Georgia"/>
                <a:cs typeface="Georgia"/>
              </a:rPr>
              <a:t>C</a:t>
            </a:r>
            <a:r>
              <a:rPr dirty="0" sz="4550" spc="-2275">
                <a:latin typeface="Georgia"/>
                <a:cs typeface="Georgia"/>
              </a:rPr>
              <a:t>o</a:t>
            </a:r>
            <a:r>
              <a:rPr dirty="0" baseline="90277" sz="1800" spc="-135">
                <a:latin typeface="Georgia"/>
                <a:cs typeface="Georgia"/>
              </a:rPr>
              <a:t>ard</a:t>
            </a:r>
            <a:r>
              <a:rPr dirty="0" baseline="90277" sz="1800" spc="-240">
                <a:latin typeface="Georgia"/>
                <a:cs typeface="Georgia"/>
              </a:rPr>
              <a:t>o</a:t>
            </a:r>
            <a:r>
              <a:rPr dirty="0" sz="4550" spc="-100">
                <a:latin typeface="Georgia"/>
                <a:cs typeface="Georgia"/>
              </a:rPr>
              <a:t>me</a:t>
            </a:r>
            <a:r>
              <a:rPr dirty="0" sz="4550" spc="-90">
                <a:latin typeface="Georgia"/>
                <a:cs typeface="Georgia"/>
              </a:rPr>
              <a:t>r</a:t>
            </a:r>
            <a:r>
              <a:rPr dirty="0" sz="4550" spc="65">
                <a:latin typeface="Georgia"/>
                <a:cs typeface="Georgia"/>
              </a:rPr>
              <a:t> </a:t>
            </a:r>
            <a:r>
              <a:rPr dirty="0" sz="4550" spc="-10">
                <a:latin typeface="Georgia"/>
                <a:cs typeface="Georgia"/>
              </a:rPr>
              <a:t>experience.</a:t>
            </a:r>
            <a:endParaRPr sz="45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84330" y="0"/>
            <a:ext cx="7903845" cy="10287000"/>
            <a:chOff x="10384330" y="0"/>
            <a:chExt cx="7903845" cy="10287000"/>
          </a:xfrm>
        </p:grpSpPr>
        <p:sp>
          <p:nvSpPr>
            <p:cNvPr id="3" name="object 3"/>
            <p:cNvSpPr/>
            <p:nvPr/>
          </p:nvSpPr>
          <p:spPr>
            <a:xfrm>
              <a:off x="10384330" y="0"/>
              <a:ext cx="7903845" cy="10287000"/>
            </a:xfrm>
            <a:custGeom>
              <a:avLst/>
              <a:gdLst/>
              <a:ahLst/>
              <a:cxnLst/>
              <a:rect l="l" t="t" r="r" b="b"/>
              <a:pathLst>
                <a:path w="7903844" h="10287000">
                  <a:moveTo>
                    <a:pt x="1401102" y="10052927"/>
                  </a:moveTo>
                  <a:lnTo>
                    <a:pt x="0" y="8650494"/>
                  </a:lnTo>
                  <a:lnTo>
                    <a:pt x="2803535" y="8650494"/>
                  </a:lnTo>
                  <a:lnTo>
                    <a:pt x="1401102" y="10052927"/>
                  </a:lnTo>
                  <a:close/>
                </a:path>
                <a:path w="7903844" h="10287000">
                  <a:moveTo>
                    <a:pt x="2335170" y="2026859"/>
                  </a:moveTo>
                  <a:lnTo>
                    <a:pt x="308311" y="0"/>
                  </a:lnTo>
                  <a:lnTo>
                    <a:pt x="1218429" y="0"/>
                  </a:lnTo>
                  <a:lnTo>
                    <a:pt x="2335170" y="1116741"/>
                  </a:lnTo>
                  <a:lnTo>
                    <a:pt x="3245288" y="1116741"/>
                  </a:lnTo>
                  <a:lnTo>
                    <a:pt x="2335170" y="2026859"/>
                  </a:lnTo>
                  <a:close/>
                </a:path>
                <a:path w="7903844" h="10287000">
                  <a:moveTo>
                    <a:pt x="2335170" y="899856"/>
                  </a:moveTo>
                  <a:lnTo>
                    <a:pt x="1435314" y="0"/>
                  </a:lnTo>
                  <a:lnTo>
                    <a:pt x="3234036" y="0"/>
                  </a:lnTo>
                  <a:lnTo>
                    <a:pt x="2335170" y="899856"/>
                  </a:lnTo>
                  <a:close/>
                </a:path>
                <a:path w="7903844" h="10287000">
                  <a:moveTo>
                    <a:pt x="3245288" y="1116741"/>
                  </a:moveTo>
                  <a:lnTo>
                    <a:pt x="2335170" y="1116741"/>
                  </a:lnTo>
                  <a:lnTo>
                    <a:pt x="3451912" y="0"/>
                  </a:lnTo>
                  <a:lnTo>
                    <a:pt x="4362029" y="0"/>
                  </a:lnTo>
                  <a:lnTo>
                    <a:pt x="3245288" y="1116741"/>
                  </a:lnTo>
                  <a:close/>
                </a:path>
                <a:path w="7903844" h="10287000">
                  <a:moveTo>
                    <a:pt x="7903661" y="10286999"/>
                  </a:moveTo>
                  <a:lnTo>
                    <a:pt x="6936211" y="10286999"/>
                  </a:lnTo>
                  <a:lnTo>
                    <a:pt x="2864742" y="6215529"/>
                  </a:lnTo>
                  <a:lnTo>
                    <a:pt x="7903668" y="1176617"/>
                  </a:lnTo>
                  <a:lnTo>
                    <a:pt x="7903668" y="3140556"/>
                  </a:lnTo>
                  <a:lnTo>
                    <a:pt x="4828680" y="6215529"/>
                  </a:lnTo>
                  <a:lnTo>
                    <a:pt x="7903668" y="9290504"/>
                  </a:lnTo>
                  <a:lnTo>
                    <a:pt x="7903661" y="10286999"/>
                  </a:lnTo>
                  <a:close/>
                </a:path>
                <a:path w="7903844" h="10287000">
                  <a:moveTo>
                    <a:pt x="7903654" y="8462882"/>
                  </a:moveTo>
                  <a:lnTo>
                    <a:pt x="5658963" y="6215529"/>
                  </a:lnTo>
                  <a:lnTo>
                    <a:pt x="7903654" y="3970839"/>
                  </a:lnTo>
                  <a:lnTo>
                    <a:pt x="7903654" y="4846361"/>
                  </a:lnTo>
                  <a:lnTo>
                    <a:pt x="6533155" y="6216860"/>
                  </a:lnTo>
                  <a:lnTo>
                    <a:pt x="7903654" y="7587359"/>
                  </a:lnTo>
                  <a:lnTo>
                    <a:pt x="7903654" y="8462882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384330" y="36309"/>
              <a:ext cx="7632700" cy="10250805"/>
            </a:xfrm>
            <a:custGeom>
              <a:avLst/>
              <a:gdLst/>
              <a:ahLst/>
              <a:cxnLst/>
              <a:rect l="l" t="t" r="r" b="b"/>
              <a:pathLst>
                <a:path w="7632700" h="10250805">
                  <a:moveTo>
                    <a:pt x="7632105" y="10250690"/>
                  </a:moveTo>
                  <a:lnTo>
                    <a:pt x="7320749" y="10250690"/>
                  </a:lnTo>
                  <a:lnTo>
                    <a:pt x="2864742" y="5794682"/>
                  </a:lnTo>
                  <a:lnTo>
                    <a:pt x="2864742" y="5483326"/>
                  </a:lnTo>
                  <a:lnTo>
                    <a:pt x="7632105" y="10250690"/>
                  </a:lnTo>
                  <a:close/>
                </a:path>
                <a:path w="7632700" h="10250805">
                  <a:moveTo>
                    <a:pt x="2371796" y="10250690"/>
                  </a:moveTo>
                  <a:lnTo>
                    <a:pt x="1405204" y="10250690"/>
                  </a:lnTo>
                  <a:lnTo>
                    <a:pt x="3041709" y="8614185"/>
                  </a:lnTo>
                  <a:lnTo>
                    <a:pt x="4007712" y="9580187"/>
                  </a:lnTo>
                  <a:lnTo>
                    <a:pt x="3041709" y="9580187"/>
                  </a:lnTo>
                  <a:lnTo>
                    <a:pt x="2371796" y="10250690"/>
                  </a:lnTo>
                  <a:close/>
                </a:path>
                <a:path w="7632700" h="10250805">
                  <a:moveTo>
                    <a:pt x="4678215" y="10250690"/>
                  </a:moveTo>
                  <a:lnTo>
                    <a:pt x="3712212" y="10250690"/>
                  </a:lnTo>
                  <a:lnTo>
                    <a:pt x="3041709" y="9580187"/>
                  </a:lnTo>
                  <a:lnTo>
                    <a:pt x="4007712" y="9580187"/>
                  </a:lnTo>
                  <a:lnTo>
                    <a:pt x="4678215" y="10250690"/>
                  </a:lnTo>
                  <a:close/>
                </a:path>
                <a:path w="7632700" h="10250805">
                  <a:moveTo>
                    <a:pt x="2866072" y="3177428"/>
                  </a:moveTo>
                  <a:lnTo>
                    <a:pt x="0" y="311356"/>
                  </a:lnTo>
                  <a:lnTo>
                    <a:pt x="0" y="0"/>
                  </a:lnTo>
                  <a:lnTo>
                    <a:pt x="2866072" y="2866072"/>
                  </a:lnTo>
                  <a:lnTo>
                    <a:pt x="2866072" y="3177428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90963" y="3153450"/>
            <a:ext cx="6066790" cy="421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960"/>
              </a:lnSpc>
              <a:spcBef>
                <a:spcPts val="100"/>
              </a:spcBef>
            </a:pPr>
            <a:r>
              <a:rPr dirty="0" sz="12500" spc="540">
                <a:solidFill>
                  <a:srgbClr val="232A37"/>
                </a:solidFill>
              </a:rPr>
              <a:t>THANK</a:t>
            </a:r>
            <a:endParaRPr sz="12500"/>
          </a:p>
          <a:p>
            <a:pPr marL="12700">
              <a:lnSpc>
                <a:spcPts val="20040"/>
              </a:lnSpc>
            </a:pPr>
            <a:r>
              <a:rPr dirty="0" sz="18400" spc="1210">
                <a:solidFill>
                  <a:srgbClr val="232A37"/>
                </a:solidFill>
              </a:rPr>
              <a:t>YOU</a:t>
            </a:r>
            <a:endParaRPr sz="18400"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3251200" cy="10287000"/>
            <a:chOff x="0" y="0"/>
            <a:chExt cx="3251200" cy="10287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251200" cy="10053320"/>
            </a:xfrm>
            <a:custGeom>
              <a:avLst/>
              <a:gdLst/>
              <a:ahLst/>
              <a:cxnLst/>
              <a:rect l="l" t="t" r="r" b="b"/>
              <a:pathLst>
                <a:path w="3251200" h="10053320">
                  <a:moveTo>
                    <a:pt x="1849704" y="10052927"/>
                  </a:moveTo>
                  <a:lnTo>
                    <a:pt x="3250806" y="8650494"/>
                  </a:lnTo>
                  <a:lnTo>
                    <a:pt x="447271" y="8650494"/>
                  </a:lnTo>
                  <a:lnTo>
                    <a:pt x="1849704" y="10052927"/>
                  </a:lnTo>
                  <a:close/>
                </a:path>
                <a:path w="3251200" h="10053320">
                  <a:moveTo>
                    <a:pt x="0" y="6601594"/>
                  </a:moveTo>
                  <a:lnTo>
                    <a:pt x="386064" y="6215529"/>
                  </a:lnTo>
                  <a:lnTo>
                    <a:pt x="0" y="5829465"/>
                  </a:lnTo>
                  <a:lnTo>
                    <a:pt x="0" y="6601594"/>
                  </a:lnTo>
                  <a:close/>
                </a:path>
                <a:path w="3251200" h="10053320">
                  <a:moveTo>
                    <a:pt x="915636" y="2026859"/>
                  </a:moveTo>
                  <a:lnTo>
                    <a:pt x="2942495" y="0"/>
                  </a:lnTo>
                  <a:lnTo>
                    <a:pt x="2032377" y="0"/>
                  </a:lnTo>
                  <a:lnTo>
                    <a:pt x="915636" y="1116741"/>
                  </a:lnTo>
                  <a:lnTo>
                    <a:pt x="5518" y="1116741"/>
                  </a:lnTo>
                  <a:lnTo>
                    <a:pt x="915636" y="2026859"/>
                  </a:lnTo>
                  <a:close/>
                </a:path>
                <a:path w="3251200" h="10053320">
                  <a:moveTo>
                    <a:pt x="915636" y="899856"/>
                  </a:moveTo>
                  <a:lnTo>
                    <a:pt x="1815492" y="0"/>
                  </a:lnTo>
                  <a:lnTo>
                    <a:pt x="16770" y="0"/>
                  </a:lnTo>
                  <a:lnTo>
                    <a:pt x="915636" y="899856"/>
                  </a:lnTo>
                  <a:close/>
                </a:path>
                <a:path w="3251200" h="10053320">
                  <a:moveTo>
                    <a:pt x="5518" y="1116741"/>
                  </a:moveTo>
                  <a:lnTo>
                    <a:pt x="915636" y="1116741"/>
                  </a:lnTo>
                  <a:lnTo>
                    <a:pt x="0" y="201105"/>
                  </a:lnTo>
                  <a:lnTo>
                    <a:pt x="0" y="1111223"/>
                  </a:lnTo>
                  <a:lnTo>
                    <a:pt x="5518" y="1116741"/>
                  </a:lnTo>
                  <a:close/>
                </a:path>
              </a:pathLst>
            </a:custGeom>
            <a:solidFill>
              <a:srgbClr val="6A7D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36309"/>
              <a:ext cx="3251200" cy="10250805"/>
            </a:xfrm>
            <a:custGeom>
              <a:avLst/>
              <a:gdLst/>
              <a:ahLst/>
              <a:cxnLst/>
              <a:rect l="l" t="t" r="r" b="b"/>
              <a:pathLst>
                <a:path w="3251200" h="10250805">
                  <a:moveTo>
                    <a:pt x="879010" y="10250690"/>
                  </a:moveTo>
                  <a:lnTo>
                    <a:pt x="1845602" y="10250690"/>
                  </a:lnTo>
                  <a:lnTo>
                    <a:pt x="209097" y="8614185"/>
                  </a:lnTo>
                  <a:lnTo>
                    <a:pt x="0" y="8823282"/>
                  </a:lnTo>
                  <a:lnTo>
                    <a:pt x="0" y="9580187"/>
                  </a:lnTo>
                  <a:lnTo>
                    <a:pt x="209097" y="9580187"/>
                  </a:lnTo>
                  <a:lnTo>
                    <a:pt x="879010" y="10250690"/>
                  </a:lnTo>
                  <a:close/>
                </a:path>
                <a:path w="3251200" h="10250805">
                  <a:moveTo>
                    <a:pt x="0" y="9789284"/>
                  </a:moveTo>
                  <a:lnTo>
                    <a:pt x="209097" y="9580187"/>
                  </a:lnTo>
                  <a:lnTo>
                    <a:pt x="0" y="9580187"/>
                  </a:lnTo>
                  <a:lnTo>
                    <a:pt x="0" y="9789284"/>
                  </a:lnTo>
                  <a:close/>
                </a:path>
                <a:path w="3251200" h="10250805">
                  <a:moveTo>
                    <a:pt x="0" y="6180747"/>
                  </a:moveTo>
                  <a:lnTo>
                    <a:pt x="386064" y="5794682"/>
                  </a:lnTo>
                  <a:lnTo>
                    <a:pt x="386064" y="5483326"/>
                  </a:lnTo>
                  <a:lnTo>
                    <a:pt x="0" y="5869391"/>
                  </a:lnTo>
                  <a:lnTo>
                    <a:pt x="0" y="6180747"/>
                  </a:lnTo>
                  <a:close/>
                </a:path>
                <a:path w="3251200" h="10250805">
                  <a:moveTo>
                    <a:pt x="384734" y="3177428"/>
                  </a:moveTo>
                  <a:lnTo>
                    <a:pt x="3250806" y="311356"/>
                  </a:lnTo>
                  <a:lnTo>
                    <a:pt x="3250806" y="0"/>
                  </a:lnTo>
                  <a:lnTo>
                    <a:pt x="384734" y="2866072"/>
                  </a:lnTo>
                  <a:lnTo>
                    <a:pt x="384734" y="3177428"/>
                  </a:lnTo>
                  <a:close/>
                </a:path>
              </a:pathLst>
            </a:custGeom>
            <a:solidFill>
              <a:srgbClr val="232A3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harikaa</dc:creator>
  <cp:keywords>DAHSqELl46Q,BAHDyxho9SI</cp:keywords>
  <dc:title>Blue and Black Geometric Abstract Project Presentation</dc:title>
  <dcterms:created xsi:type="dcterms:W3CDTF">2026-08-19T02:11:07Z</dcterms:created>
  <dcterms:modified xsi:type="dcterms:W3CDTF">2026-08-19T02:11:07Z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2026-08-19T00:00:00Z</vt:filetime>
  </property>
  <property fmtid="{D5CDD505-2E9C-101B-9397-08002B2CF9AE}" pid="6" name="Producer">
    <vt:lpwstr>Canva</vt:lpwstr>
  </property>
</Properties>
</file>